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media/image2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284" r:id="rId40"/>
    <p:sldId id="285" r:id="rId39"/>
    <p:sldId id="286" r:id="rId38"/>
    <p:sldId id="281" r:id="rId11"/>
    <p:sldId id="287" r:id="rId37"/>
    <p:sldId id="288" r:id="rId36"/>
    <p:sldId id="289" r:id="rId3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273" r:id="rId17"/>
  </p:sldIdLst>
  <p:sldSz cx="24377650" cy="13716000"/>
  <p:notesSz cx="7315200" cy="96012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Lato Light" panose="020F0502020204030203" pitchFamily="34" charset="0"/>
      <p:regular r:id="rId23"/>
      <p:bold r:id="rId24"/>
      <p:italic r:id="rId25"/>
      <p:boldItalic r:id="rId26"/>
    </p:embeddedFont>
    <p:embeddedFont>
      <p:font typeface="Raleway" pitchFamily="2" charset="0"/>
      <p:regular r:id="rId27"/>
      <p:bold r:id="rId28"/>
      <p:italic r:id="rId29"/>
      <p:boldItalic r:id="rId30"/>
    </p:embeddedFont>
    <p:embeddedFont>
      <p:font typeface="Raleway Light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140">
          <p15:clr>
            <a:srgbClr val="A4A3A4"/>
          </p15:clr>
        </p15:guide>
        <p15:guide id="2" orient="horz" pos="499">
          <p15:clr>
            <a:srgbClr val="A4A3A4"/>
          </p15:clr>
        </p15:guide>
        <p15:guide id="3" pos="14271">
          <p15:clr>
            <a:srgbClr val="A4A3A4"/>
          </p15:clr>
        </p15:guide>
        <p15:guide id="4" pos="7677">
          <p15:clr>
            <a:srgbClr val="A4A3A4"/>
          </p15:clr>
        </p15:guide>
        <p15:guide id="5" pos="10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hMNTYNVTbpDTAGGJlZzdy5xXkD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A86C57-FAF1-40AC-A6BF-63785705ECA8}">
  <a:tblStyle styleId="{FDA86C57-FAF1-40AC-A6BF-63785705ECA8}" styleName="Table_0">
    <a:wholeTbl>
      <a:tcTxStyle b="off" i="off">
        <a:font>
          <a:latin typeface="Lato Light"/>
          <a:ea typeface="Lato Light"/>
          <a:cs typeface="Lato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5E7E6"/>
          </a:solidFill>
        </a:fill>
      </a:tcStyle>
    </a:wholeTbl>
    <a:band1H>
      <a:tcTxStyle/>
      <a:tcStyle>
        <a:tcBdr/>
        <a:fill>
          <a:solidFill>
            <a:srgbClr val="EACB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ACB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98" y="120"/>
      </p:cViewPr>
      <p:guideLst>
        <p:guide orient="horz" pos="8140"/>
        <p:guide orient="horz" pos="499"/>
        <p:guide pos="14271"/>
        <p:guide pos="7677"/>
        <p:guide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1" Type="http://schemas.openxmlformats.org/officeDocument/2006/relationships/slide" Target="slides/slide10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Relationship Id="rId27" Type="http://schemas.openxmlformats.org/officeDocument/2006/relationships/font" Target="fonts/font9.fntdata"/><Relationship Id="rId28" Type="http://schemas.openxmlformats.org/officeDocument/2006/relationships/font" Target="fonts/font10.fntdata"/><Relationship Id="rId29" Type="http://schemas.openxmlformats.org/officeDocument/2006/relationships/font" Target="fonts/font11.fntdata"/><Relationship Id="rId30" Type="http://schemas.openxmlformats.org/officeDocument/2006/relationships/font" Target="fonts/font12.fntdata"/><Relationship Id="rId31" Type="http://schemas.openxmlformats.org/officeDocument/2006/relationships/font" Target="fonts/font13.fntdata"/><Relationship Id="rId32" Type="http://schemas.openxmlformats.org/officeDocument/2006/relationships/font" Target="fonts/font14.fntdata"/><Relationship Id="rId33" Type="http://schemas.openxmlformats.org/officeDocument/2006/relationships/font" Target="fonts/font15.fntdata"/><Relationship Id="rId34" Type="http://schemas.openxmlformats.org/officeDocument/2006/relationships/font" Target="fonts/font16.fntdata"/><Relationship Id="rId35" Type="http://schemas.openxmlformats.org/officeDocument/2006/relationships/slide" Target="slides/slide22.xml"/><Relationship Id="rId36" Type="http://schemas.openxmlformats.org/officeDocument/2006/relationships/slide" Target="slides/slide21.xml"/><Relationship Id="rId37" Type="http://schemas.openxmlformats.org/officeDocument/2006/relationships/slide" Target="slides/slide20.xml"/><Relationship Id="rId38" Type="http://schemas.openxmlformats.org/officeDocument/2006/relationships/slide" Target="slides/slide19.xml"/><Relationship Id="rId39" Type="http://schemas.openxmlformats.org/officeDocument/2006/relationships/slide" Target="slides/slide18.xml"/><Relationship Id="rId40" Type="http://schemas.openxmlformats.org/officeDocument/2006/relationships/slide" Target="slides/slide17.xml"/><Relationship Id="rId41" Type="http://customschemas.google.com/relationships/presentationmetadata" Target="meta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23.xml"/><Relationship Id="rId47" Type="http://schemas.openxmlformats.org/officeDocument/2006/relationships/slide" Target="slides/slide24.xml"/><Relationship Id="rId48" Type="http://schemas.openxmlformats.org/officeDocument/2006/relationships/slide" Target="slides/slide25.xml"/><Relationship Id="rId49" Type="http://schemas.openxmlformats.org/officeDocument/2006/relationships/slide" Target="slides/slide26.xml"/><Relationship Id="rId50" Type="http://schemas.openxmlformats.org/officeDocument/2006/relationships/slide" Target="slides/slide27.xml"/><Relationship Id="rId51" Type="http://schemas.openxmlformats.org/officeDocument/2006/relationships/slide" Target="slides/slide28.xml"/><Relationship Id="rId52" Type="http://schemas.openxmlformats.org/officeDocument/2006/relationships/slide" Target="slides/slide29.xml"/><Relationship Id="rId53" Type="http://schemas.openxmlformats.org/officeDocument/2006/relationships/slide" Target="slides/slide30.xml"/><Relationship Id="rId54" Type="http://schemas.openxmlformats.org/officeDocument/2006/relationships/slide" Target="slides/slide31.xml"/><Relationship Id="rId55" Type="http://schemas.openxmlformats.org/officeDocument/2006/relationships/slide" Target="slides/slide32.xml"/><Relationship Id="rId56" Type="http://schemas.openxmlformats.org/officeDocument/2006/relationships/slide" Target="slides/slide33.xml"/><Relationship Id="rId57" Type="http://schemas.openxmlformats.org/officeDocument/2006/relationships/slide" Target="slides/slide34.xml"/><Relationship Id="rId58" Type="http://schemas.openxmlformats.org/officeDocument/2006/relationships/slide" Target="slides/slide35.xml"/><Relationship Id="rId59" Type="http://schemas.openxmlformats.org/officeDocument/2006/relationships/slide" Target="slides/slide36.xml"/><Relationship Id="rId60" Type="http://schemas.openxmlformats.org/officeDocument/2006/relationships/slide" Target="slides/slide3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600" b="1">
                <a:solidFill>
                  <a:srgbClr val="041B31"/>
                </a:solidFill>
                <a:latin typeface="Times New Roman"/>
              </a:rPr>
              <a:t>Images per class and split (split by source photo)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16749F"/>
            </a:solidFill>
          </c:spPr>
          <c:cat>
            <c:strRef>
              <c:f>Sheet1!$A$2:$A$13</c:f>
              <c:strCache>
                <c:ptCount val="12"/>
                <c:pt idx="0">
                  <c:v>fresh apple</c:v>
                </c:pt>
                <c:pt idx="1">
                  <c:v>fresh banana</c:v>
                </c:pt>
                <c:pt idx="2">
                  <c:v>fresh bitter gourd</c:v>
                </c:pt>
                <c:pt idx="3">
                  <c:v>fresh capsicum</c:v>
                </c:pt>
                <c:pt idx="4">
                  <c:v>fresh orange</c:v>
                </c:pt>
                <c:pt idx="5">
                  <c:v>fresh tomato</c:v>
                </c:pt>
                <c:pt idx="6">
                  <c:v>stale apple</c:v>
                </c:pt>
                <c:pt idx="7">
                  <c:v>stale banana</c:v>
                </c:pt>
                <c:pt idx="8">
                  <c:v>stale bitter gourd</c:v>
                </c:pt>
                <c:pt idx="9">
                  <c:v>stale capsicum</c:v>
                </c:pt>
                <c:pt idx="10">
                  <c:v>stale orange</c:v>
                </c:pt>
                <c:pt idx="11">
                  <c:v>stale tomato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1186</c:v>
                </c:pt>
                <c:pt idx="1">
                  <c:v>1106</c:v>
                </c:pt>
                <c:pt idx="2">
                  <c:v>246</c:v>
                </c:pt>
                <c:pt idx="3">
                  <c:v>682</c:v>
                </c:pt>
                <c:pt idx="4">
                  <c:v>1025</c:v>
                </c:pt>
                <c:pt idx="5">
                  <c:v>695</c:v>
                </c:pt>
                <c:pt idx="6">
                  <c:v>1643</c:v>
                </c:pt>
                <c:pt idx="7">
                  <c:v>1025</c:v>
                </c:pt>
                <c:pt idx="8">
                  <c:v>252</c:v>
                </c:pt>
                <c:pt idx="9">
                  <c:v>655</c:v>
                </c:pt>
                <c:pt idx="10">
                  <c:v>1118</c:v>
                </c:pt>
                <c:pt idx="11">
                  <c:v>696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38B28A"/>
            </a:solidFill>
          </c:spPr>
          <c:cat>
            <c:strRef>
              <c:f>Sheet1!$A$2:$A$13</c:f>
              <c:strCache>
                <c:ptCount val="12"/>
                <c:pt idx="0">
                  <c:v>fresh apple</c:v>
                </c:pt>
                <c:pt idx="1">
                  <c:v>fresh banana</c:v>
                </c:pt>
                <c:pt idx="2">
                  <c:v>fresh bitter gourd</c:v>
                </c:pt>
                <c:pt idx="3">
                  <c:v>fresh capsicum</c:v>
                </c:pt>
                <c:pt idx="4">
                  <c:v>fresh orange</c:v>
                </c:pt>
                <c:pt idx="5">
                  <c:v>fresh tomato</c:v>
                </c:pt>
                <c:pt idx="6">
                  <c:v>stale apple</c:v>
                </c:pt>
                <c:pt idx="7">
                  <c:v>stale banana</c:v>
                </c:pt>
                <c:pt idx="8">
                  <c:v>stale bitter gourd</c:v>
                </c:pt>
                <c:pt idx="9">
                  <c:v>stale capsicum</c:v>
                </c:pt>
                <c:pt idx="10">
                  <c:v>stale orange</c:v>
                </c:pt>
                <c:pt idx="11">
                  <c:v>stale tomato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253</c:v>
                </c:pt>
                <c:pt idx="1">
                  <c:v>241</c:v>
                </c:pt>
                <c:pt idx="2">
                  <c:v>41</c:v>
                </c:pt>
                <c:pt idx="3">
                  <c:v>155</c:v>
                </c:pt>
                <c:pt idx="4">
                  <c:v>218</c:v>
                </c:pt>
                <c:pt idx="5">
                  <c:v>163</c:v>
                </c:pt>
                <c:pt idx="6">
                  <c:v>347</c:v>
                </c:pt>
                <c:pt idx="7">
                  <c:v>222</c:v>
                </c:pt>
                <c:pt idx="8">
                  <c:v>63</c:v>
                </c:pt>
                <c:pt idx="9">
                  <c:v>82</c:v>
                </c:pt>
                <c:pt idx="10">
                  <c:v>237</c:v>
                </c:pt>
                <c:pt idx="11">
                  <c:v>123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F9711C"/>
            </a:solidFill>
          </c:spPr>
          <c:cat>
            <c:strRef>
              <c:f>Sheet1!$A$2:$A$13</c:f>
              <c:strCache>
                <c:ptCount val="12"/>
                <c:pt idx="0">
                  <c:v>fresh apple</c:v>
                </c:pt>
                <c:pt idx="1">
                  <c:v>fresh banana</c:v>
                </c:pt>
                <c:pt idx="2">
                  <c:v>fresh bitter gourd</c:v>
                </c:pt>
                <c:pt idx="3">
                  <c:v>fresh capsicum</c:v>
                </c:pt>
                <c:pt idx="4">
                  <c:v>fresh orange</c:v>
                </c:pt>
                <c:pt idx="5">
                  <c:v>fresh tomato</c:v>
                </c:pt>
                <c:pt idx="6">
                  <c:v>stale apple</c:v>
                </c:pt>
                <c:pt idx="7">
                  <c:v>stale banana</c:v>
                </c:pt>
                <c:pt idx="8">
                  <c:v>stale bitter gourd</c:v>
                </c:pt>
                <c:pt idx="9">
                  <c:v>stale capsicum</c:v>
                </c:pt>
                <c:pt idx="10">
                  <c:v>stale orange</c:v>
                </c:pt>
                <c:pt idx="11">
                  <c:v>stale tomato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254</c:v>
                </c:pt>
                <c:pt idx="1">
                  <c:v>234</c:v>
                </c:pt>
                <c:pt idx="2">
                  <c:v>40</c:v>
                </c:pt>
                <c:pt idx="3">
                  <c:v>153</c:v>
                </c:pt>
                <c:pt idx="4">
                  <c:v>223</c:v>
                </c:pt>
                <c:pt idx="5">
                  <c:v>123</c:v>
                </c:pt>
                <c:pt idx="6">
                  <c:v>352</c:v>
                </c:pt>
                <c:pt idx="7">
                  <c:v>220</c:v>
                </c:pt>
                <c:pt idx="8">
                  <c:v>42</c:v>
                </c:pt>
                <c:pt idx="9">
                  <c:v>164</c:v>
                </c:pt>
                <c:pt idx="10">
                  <c:v>240</c:v>
                </c:pt>
                <c:pt idx="11">
                  <c:v>163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12700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2200"/>
          </a:pPr>
        </a:p>
      </c:txPr>
    </c:legend>
    <c:dispBlanksAs val="gap"/>
  </c:chart>
  <c:txPr>
    <a:bodyPr/>
    <a:lstStyle/>
    <a:p>
      <a:pPr>
        <a:defRPr sz="2200">
          <a:solidFill>
            <a:srgbClr val="1E1E1E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600" b="1">
                <a:solidFill>
                  <a:srgbClr val="041B31"/>
                </a:solidFill>
                <a:latin typeface="Times New Roman"/>
              </a:rPr>
              <a:t>Accuracy and macro-F1 per epoch (%)   H = head only, F = full fine-tune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44450">
              <a:solidFill>
                <a:srgbClr val="555555"/>
              </a:solidFill>
            </a:ln>
          </c:spPr>
          <c:marker>
            <c:spPr>
              <a:solidFill>
                <a:srgbClr val="555555"/>
              </a:solidFill>
              <a:ln>
                <a:solidFill>
                  <a:srgbClr val="555555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F1</c:v>
                </c:pt>
                <c:pt idx="4">
                  <c:v>F2</c:v>
                </c:pt>
                <c:pt idx="5">
                  <c:v>F3</c:v>
                </c:pt>
                <c:pt idx="6">
                  <c:v>F4</c:v>
                </c:pt>
                <c:pt idx="7">
                  <c:v>F5</c:v>
                </c:pt>
                <c:pt idx="8">
                  <c:v>F6</c:v>
                </c:pt>
                <c:pt idx="9">
                  <c:v>F7</c:v>
                </c:pt>
                <c:pt idx="10">
                  <c:v>F8</c:v>
                </c:pt>
                <c:pt idx="11">
                  <c:v>F9</c:v>
                </c:pt>
                <c:pt idx="12">
                  <c:v>F10</c:v>
                </c:pt>
                <c:pt idx="13">
                  <c:v>F11</c:v>
                </c:pt>
                <c:pt idx="14">
                  <c:v>F12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67.29</c:v>
                </c:pt>
                <c:pt idx="1">
                  <c:v>91.7</c:v>
                </c:pt>
                <c:pt idx="2">
                  <c:v>93.38</c:v>
                </c:pt>
                <c:pt idx="3">
                  <c:v>95.46</c:v>
                </c:pt>
                <c:pt idx="4">
                  <c:v>98.66</c:v>
                </c:pt>
                <c:pt idx="5">
                  <c:v>99.61</c:v>
                </c:pt>
                <c:pt idx="6">
                  <c:v>99.79</c:v>
                </c:pt>
                <c:pt idx="7">
                  <c:v>99.8</c:v>
                </c:pt>
                <c:pt idx="8">
                  <c:v>99.91</c:v>
                </c:pt>
                <c:pt idx="9">
                  <c:v>99.96</c:v>
                </c:pt>
                <c:pt idx="10">
                  <c:v>99.99</c:v>
                </c:pt>
                <c:pt idx="11">
                  <c:v>99.93</c:v>
                </c:pt>
                <c:pt idx="12">
                  <c:v>99.98</c:v>
                </c:pt>
                <c:pt idx="13">
                  <c:v>99.99</c:v>
                </c:pt>
                <c:pt idx="14">
                  <c:v>99.97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ln w="44450">
              <a:solidFill>
                <a:srgbClr val="16749F"/>
              </a:solidFill>
            </a:ln>
          </c:spPr>
          <c:marker>
            <c:spPr>
              <a:solidFill>
                <a:srgbClr val="16749F"/>
              </a:solidFill>
              <a:ln>
                <a:solidFill>
                  <a:srgbClr val="16749F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F1</c:v>
                </c:pt>
                <c:pt idx="4">
                  <c:v>F2</c:v>
                </c:pt>
                <c:pt idx="5">
                  <c:v>F3</c:v>
                </c:pt>
                <c:pt idx="6">
                  <c:v>F4</c:v>
                </c:pt>
                <c:pt idx="7">
                  <c:v>F5</c:v>
                </c:pt>
                <c:pt idx="8">
                  <c:v>F6</c:v>
                </c:pt>
                <c:pt idx="9">
                  <c:v>F7</c:v>
                </c:pt>
                <c:pt idx="10">
                  <c:v>F8</c:v>
                </c:pt>
                <c:pt idx="11">
                  <c:v>F9</c:v>
                </c:pt>
                <c:pt idx="12">
                  <c:v>F10</c:v>
                </c:pt>
                <c:pt idx="13">
                  <c:v>F11</c:v>
                </c:pt>
                <c:pt idx="14">
                  <c:v>F12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92.49</c:v>
                </c:pt>
                <c:pt idx="1">
                  <c:v>94.97</c:v>
                </c:pt>
                <c:pt idx="2">
                  <c:v>94.73</c:v>
                </c:pt>
                <c:pt idx="3">
                  <c:v>96.64</c:v>
                </c:pt>
                <c:pt idx="4">
                  <c:v>96.92</c:v>
                </c:pt>
                <c:pt idx="5">
                  <c:v>97.44</c:v>
                </c:pt>
                <c:pt idx="6">
                  <c:v>97.3</c:v>
                </c:pt>
                <c:pt idx="7">
                  <c:v>97.3</c:v>
                </c:pt>
                <c:pt idx="8">
                  <c:v>97.34</c:v>
                </c:pt>
                <c:pt idx="9">
                  <c:v>97.34</c:v>
                </c:pt>
                <c:pt idx="10">
                  <c:v>97.44</c:v>
                </c:pt>
                <c:pt idx="11">
                  <c:v>97.34</c:v>
                </c:pt>
                <c:pt idx="12">
                  <c:v>97.39</c:v>
                </c:pt>
                <c:pt idx="13">
                  <c:v>97.25</c:v>
                </c:pt>
                <c:pt idx="14">
                  <c:v>97.25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Validation macro-F1</c:v>
                </c:pt>
              </c:strCache>
            </c:strRef>
          </c:tx>
          <c:spPr>
            <a:ln w="44450">
              <a:solidFill>
                <a:srgbClr val="38B28A"/>
              </a:solidFill>
            </a:ln>
          </c:spPr>
          <c:marker>
            <c:spPr>
              <a:solidFill>
                <a:srgbClr val="38B28A"/>
              </a:solidFill>
              <a:ln>
                <a:solidFill>
                  <a:srgbClr val="38B28A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H1</c:v>
                </c:pt>
                <c:pt idx="1">
                  <c:v>H2</c:v>
                </c:pt>
                <c:pt idx="2">
                  <c:v>H3</c:v>
                </c:pt>
                <c:pt idx="3">
                  <c:v>F1</c:v>
                </c:pt>
                <c:pt idx="4">
                  <c:v>F2</c:v>
                </c:pt>
                <c:pt idx="5">
                  <c:v>F3</c:v>
                </c:pt>
                <c:pt idx="6">
                  <c:v>F4</c:v>
                </c:pt>
                <c:pt idx="7">
                  <c:v>F5</c:v>
                </c:pt>
                <c:pt idx="8">
                  <c:v>F6</c:v>
                </c:pt>
                <c:pt idx="9">
                  <c:v>F7</c:v>
                </c:pt>
                <c:pt idx="10">
                  <c:v>F8</c:v>
                </c:pt>
                <c:pt idx="11">
                  <c:v>F9</c:v>
                </c:pt>
                <c:pt idx="12">
                  <c:v>F10</c:v>
                </c:pt>
                <c:pt idx="13">
                  <c:v>F11</c:v>
                </c:pt>
                <c:pt idx="14">
                  <c:v>F12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92.87</c:v>
                </c:pt>
                <c:pt idx="1">
                  <c:v>95.08</c:v>
                </c:pt>
                <c:pt idx="2">
                  <c:v>94.85</c:v>
                </c:pt>
                <c:pt idx="3">
                  <c:v>96.39</c:v>
                </c:pt>
                <c:pt idx="4">
                  <c:v>96.51</c:v>
                </c:pt>
                <c:pt idx="5">
                  <c:v>97.26</c:v>
                </c:pt>
                <c:pt idx="6">
                  <c:v>96.83</c:v>
                </c:pt>
                <c:pt idx="7">
                  <c:v>96.92</c:v>
                </c:pt>
                <c:pt idx="8">
                  <c:v>96.95</c:v>
                </c:pt>
                <c:pt idx="9">
                  <c:v>96.95</c:v>
                </c:pt>
                <c:pt idx="10">
                  <c:v>97.01</c:v>
                </c:pt>
                <c:pt idx="11">
                  <c:v>96.94</c:v>
                </c:pt>
                <c:pt idx="12">
                  <c:v>96.98</c:v>
                </c:pt>
                <c:pt idx="13">
                  <c:v>96.89</c:v>
                </c:pt>
                <c:pt idx="14">
                  <c:v>96.89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60.0"/>
        </c:scaling>
        <c:delete val="0"/>
        <c:axPos val="l"/>
        <c:majorGridlines>
          <c:spPr>
            <a:ln w="12700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2200"/>
          </a:pPr>
        </a:p>
      </c:txPr>
    </c:legend>
    <c:plotVisOnly val="1"/>
    <c:dispBlanksAs val="gap"/>
    <c:showDLblsOverMax val="0"/>
  </c:chart>
  <c:txPr>
    <a:bodyPr/>
    <a:lstStyle/>
    <a:p>
      <a:pPr>
        <a:defRPr sz="2200">
          <a:solidFill>
            <a:srgbClr val="1E1E1E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400" b="1">
                <a:solidFill>
                  <a:srgbClr val="041B31"/>
                </a:solidFill>
                <a:latin typeface="Times New Roman"/>
              </a:rPr>
              <a:t>F1-score per class (test)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dPt>
            <c:idx val="0"/>
            <c:spPr>
              <a:solidFill>
                <a:srgbClr val="38B28A"/>
              </a:solidFill>
            </c:spPr>
          </c:dPt>
          <c:dPt>
            <c:idx val="1"/>
            <c:spPr>
              <a:solidFill>
                <a:srgbClr val="38B28A"/>
              </a:solidFill>
            </c:spPr>
          </c:dPt>
          <c:dPt>
            <c:idx val="2"/>
            <c:spPr>
              <a:solidFill>
                <a:srgbClr val="38B28A"/>
              </a:solidFill>
            </c:spPr>
          </c:dPt>
          <c:dPt>
            <c:idx val="3"/>
            <c:spPr>
              <a:solidFill>
                <a:srgbClr val="38B28A"/>
              </a:solidFill>
            </c:spPr>
          </c:dPt>
          <c:dPt>
            <c:idx val="4"/>
            <c:spPr>
              <a:solidFill>
                <a:srgbClr val="38B28A"/>
              </a:solidFill>
            </c:spPr>
          </c:dPt>
          <c:dPt>
            <c:idx val="5"/>
            <c:spPr>
              <a:solidFill>
                <a:srgbClr val="38B28A"/>
              </a:solidFill>
            </c:spPr>
          </c:dPt>
          <c:dPt>
            <c:idx val="6"/>
            <c:spPr>
              <a:solidFill>
                <a:srgbClr val="F9711C"/>
              </a:solidFill>
            </c:spPr>
          </c:dPt>
          <c:dPt>
            <c:idx val="7"/>
            <c:spPr>
              <a:solidFill>
                <a:srgbClr val="F9711C"/>
              </a:solidFill>
            </c:spPr>
          </c:dPt>
          <c:dPt>
            <c:idx val="8"/>
            <c:spPr>
              <a:solidFill>
                <a:srgbClr val="F9711C"/>
              </a:solidFill>
            </c:spPr>
          </c:dPt>
          <c:dPt>
            <c:idx val="9"/>
            <c:spPr>
              <a:solidFill>
                <a:srgbClr val="F9711C"/>
              </a:solidFill>
            </c:spPr>
          </c:dPt>
          <c:dPt>
            <c:idx val="10"/>
            <c:spPr>
              <a:solidFill>
                <a:srgbClr val="F9711C"/>
              </a:solidFill>
            </c:spPr>
          </c:dPt>
          <c:dPt>
            <c:idx val="11"/>
            <c:spPr>
              <a:solidFill>
                <a:srgbClr val="F9711C"/>
              </a:solidFill>
            </c:spPr>
          </c:dPt>
          <c:cat>
            <c:strRef>
              <c:f>Sheet1!$A$2:$A$13</c:f>
              <c:strCache>
                <c:ptCount val="12"/>
                <c:pt idx="0">
                  <c:v>fresh apple</c:v>
                </c:pt>
                <c:pt idx="1">
                  <c:v>fresh banana</c:v>
                </c:pt>
                <c:pt idx="2">
                  <c:v>fresh bitter gourd</c:v>
                </c:pt>
                <c:pt idx="3">
                  <c:v>fresh capsicum</c:v>
                </c:pt>
                <c:pt idx="4">
                  <c:v>fresh orange</c:v>
                </c:pt>
                <c:pt idx="5">
                  <c:v>fresh tomato</c:v>
                </c:pt>
                <c:pt idx="6">
                  <c:v>stale apple</c:v>
                </c:pt>
                <c:pt idx="7">
                  <c:v>stale banana</c:v>
                </c:pt>
                <c:pt idx="8">
                  <c:v>stale bitter gourd</c:v>
                </c:pt>
                <c:pt idx="9">
                  <c:v>stale capsicum</c:v>
                </c:pt>
                <c:pt idx="10">
                  <c:v>stale orange</c:v>
                </c:pt>
                <c:pt idx="11">
                  <c:v>stale tomato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0.992</c:v>
                </c:pt>
                <c:pt idx="1">
                  <c:v>0.996</c:v>
                </c:pt>
                <c:pt idx="2">
                  <c:v>1.0</c:v>
                </c:pt>
                <c:pt idx="3">
                  <c:v>0.933</c:v>
                </c:pt>
                <c:pt idx="4">
                  <c:v>0.984</c:v>
                </c:pt>
                <c:pt idx="5">
                  <c:v>0.877</c:v>
                </c:pt>
                <c:pt idx="6">
                  <c:v>0.994</c:v>
                </c:pt>
                <c:pt idx="7">
                  <c:v>0.995</c:v>
                </c:pt>
                <c:pt idx="8">
                  <c:v>1.0</c:v>
                </c:pt>
                <c:pt idx="9">
                  <c:v>0.928</c:v>
                </c:pt>
                <c:pt idx="10">
                  <c:v>0.986</c:v>
                </c:pt>
                <c:pt idx="11">
                  <c:v>0.924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20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8"/>
        </c:scaling>
        <c:delete val="0"/>
        <c:axPos val="b"/>
        <c:majorGridlines>
          <c:spPr>
            <a:ln w="12700">
              <a:solidFill>
                <a:srgbClr val="D9D9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crossAx val="-2068027336"/>
        <c:crosses val="autoZero"/>
        <c:majorUnit val="0.05"/>
      </c:valAx>
    </c:plotArea>
    <c:dispBlanksAs val="gap"/>
  </c:chart>
  <c:txPr>
    <a:bodyPr/>
    <a:lstStyle/>
    <a:p>
      <a:pPr>
        <a:defRPr sz="2100">
          <a:solidFill>
            <a:srgbClr val="1E1E1E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400" b="1">
                <a:solidFill>
                  <a:srgbClr val="041B31"/>
                </a:solidFill>
                <a:latin typeface="Times New Roman"/>
              </a:rPr>
              <a:t>Verdicts on 2,208 test images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images</c:v>
                </c:pt>
              </c:strCache>
            </c:strRef>
          </c:tx>
          <c:dPt>
            <c:idx val="0"/>
            <c:spPr>
              <a:solidFill>
                <a:srgbClr val="2E8B57"/>
              </a:solidFill>
            </c:spPr>
          </c:dPt>
          <c:dPt>
            <c:idx val="1"/>
            <c:spPr>
              <a:solidFill>
                <a:srgbClr val="F9711C"/>
              </a:solidFill>
            </c:spPr>
          </c:dPt>
          <c:dPt>
            <c:idx val="2"/>
            <c:spPr>
              <a:solidFill>
                <a:srgbClr val="C42A13"/>
              </a:solidFill>
            </c:spPr>
          </c:dPt>
          <c:cat>
            <c:strRef>
              <c:f>Sheet1!$A$2:$A$4</c:f>
              <c:strCache>
                <c:ptCount val="3"/>
                <c:pt idx="0">
                  <c:v>SAFE</c:v>
                </c:pt>
                <c:pt idx="1">
                  <c:v>CAUTION</c:v>
                </c:pt>
                <c:pt idx="2">
                  <c:v>UNSAFE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929</c:v>
                </c:pt>
                <c:pt idx="1">
                  <c:v>222</c:v>
                </c:pt>
                <c:pt idx="2">
                  <c:v>1057</c:v>
                </c:pt>
              </c:numCache>
            </c:numRef>
          </c:val>
        </c:ser>
        <c:dLbls>
          <c:txPr>
            <a:bodyPr/>
            <a:lstStyle/>
            <a:p>
              <a:pPr>
                <a:defRPr sz="2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.0"/>
        </c:scaling>
        <c:delete val="0"/>
        <c:axPos val="l"/>
        <c:majorGridlines>
          <c:spPr>
            <a:ln w="12700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2400">
          <a:solidFill>
            <a:srgbClr val="1E1E1E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r>
              <a:t>Introduce yourself and your guide. FoodGuard AI is a web app that tells a user, from one to three photos, whether a fresh fruit or vegetable or a packaged food is safe to eat, and explains why.</a:t>
            </a:r>
          </a:p>
        </p:txBody>
      </p:sp>
      <p:sp>
        <p:nvSpPr>
          <p:cNvPr id="82" name="Google Shape;82;p1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r>
              <a:t>Fill this table with the suggestions from your previous review and what you changed in response.</a:t>
            </a:r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81401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r>
              <a:t>Thank the panel and invite questions.</a:t>
            </a:r>
          </a:p>
        </p:txBody>
      </p:sp>
      <p:sp>
        <p:nvSpPr>
          <p:cNvPr id="328" name="Google Shape;32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talk follows the department's review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 the context: why checking food from a photo is useful, and what the system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statement, then walk through problem, solution and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five objectives map one-to-one onto the methodology and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papers per slide; performance figures are as reported by each paper's authors on their own datasets, so they are not directly comparable with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papers per slide; performance figures are as reported by each paper's authors on their own datasets, so they are not directly comparable with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papers per slide; performance figures are as reported by each paper's authors on their own datasets, so they are not directly comparable with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papers per slide; performance figures are as reported by each paper's authors on their own datasets, so they are not directly comparable with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gap comes from the survey; the right column is how FoodGuard AI answers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Guard stages 1-3 check that the photo is food, matches the chosen category and shows the product the user named; any failure stops the request with REJECTED or MISMATCH. Pipeline A grades produce, pipeline B reads the label. When unsure, the system answers CAUTION instead of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Stress the split by source photo, the two-phase fine-tune and the safety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OCR is read on several versions of the photo and the answers are combined by voting.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checks run before and after the main models so the system can say 'I can't check this'.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Mention the module split and that every rule has a unit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split is by source photo, so no augmented copy of a test photo is seen in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Phase 1 trains only the new head; phase 2 unfreezes the whole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test-set numbers on photos never seen in training or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threshold turns uncertain predictions into CAUTION instead of a wrong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take-aways, each backed by a result shown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with what works today and what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IEEE style. [1]–[20] are the surveyed papers; [21]–[28] are data, tools, regulations and training methods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IEEE style. [1]–[20] are the surveyed papers; [21]–[28] are data, tools, regulations and training methods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675964" y="12712709"/>
            <a:ext cx="5484971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8075097" y="12712709"/>
            <a:ext cx="822745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17216715" y="12712709"/>
            <a:ext cx="5484971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fault Slide">
  <p:cSld name="1_Default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/>
          <p:nvPr/>
        </p:nvSpPr>
        <p:spPr>
          <a:xfrm>
            <a:off x="21856474" y="12962667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3" name="Google Shape;23;p21"/>
          <p:cNvSpPr/>
          <p:nvPr/>
        </p:nvSpPr>
        <p:spPr>
          <a:xfrm>
            <a:off x="21957416" y="13038867"/>
            <a:ext cx="125063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4" name="Google Shape;24;p21"/>
          <p:cNvSpPr/>
          <p:nvPr/>
        </p:nvSpPr>
        <p:spPr>
          <a:xfrm>
            <a:off x="22272519" y="12962229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5" name="Google Shape;25;p21"/>
          <p:cNvSpPr/>
          <p:nvPr/>
        </p:nvSpPr>
        <p:spPr>
          <a:xfrm flipH="1">
            <a:off x="22365174" y="13038429"/>
            <a:ext cx="124405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" name="Google Shape;26;p21"/>
          <p:cNvSpPr/>
          <p:nvPr/>
        </p:nvSpPr>
        <p:spPr>
          <a:xfrm>
            <a:off x="23076810" y="811398"/>
            <a:ext cx="712976" cy="712954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" name="Google Shape;27;p21"/>
          <p:cNvSpPr txBox="1"/>
          <p:nvPr/>
        </p:nvSpPr>
        <p:spPr>
          <a:xfrm>
            <a:off x="23009970" y="8196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cons-set">
  <p:cSld name="Icons-se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two column with image">
  <p:cSld name="Text two column with imag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>
            <a:spLocks noGrp="1"/>
          </p:cNvSpPr>
          <p:nvPr>
            <p:ph type="pic" idx="2"/>
          </p:nvPr>
        </p:nvSpPr>
        <p:spPr>
          <a:xfrm>
            <a:off x="12431713" y="6451599"/>
            <a:ext cx="10223500" cy="5267325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23"/>
          <p:cNvSpPr/>
          <p:nvPr/>
        </p:nvSpPr>
        <p:spPr>
          <a:xfrm>
            <a:off x="21856474" y="12962667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2" name="Google Shape;32;p23"/>
          <p:cNvSpPr/>
          <p:nvPr/>
        </p:nvSpPr>
        <p:spPr>
          <a:xfrm>
            <a:off x="21957416" y="13038867"/>
            <a:ext cx="125063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3" name="Google Shape;33;p23"/>
          <p:cNvSpPr/>
          <p:nvPr/>
        </p:nvSpPr>
        <p:spPr>
          <a:xfrm>
            <a:off x="22272519" y="12962229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4" name="Google Shape;34;p23"/>
          <p:cNvSpPr/>
          <p:nvPr/>
        </p:nvSpPr>
        <p:spPr>
          <a:xfrm flipH="1">
            <a:off x="22365174" y="13038429"/>
            <a:ext cx="124405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5" name="Google Shape;35;p23"/>
          <p:cNvSpPr/>
          <p:nvPr/>
        </p:nvSpPr>
        <p:spPr>
          <a:xfrm>
            <a:off x="23076810" y="811398"/>
            <a:ext cx="712976" cy="712954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6" name="Google Shape;36;p23"/>
          <p:cNvSpPr txBox="1"/>
          <p:nvPr/>
        </p:nvSpPr>
        <p:spPr>
          <a:xfrm>
            <a:off x="23009970" y="8196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-with-picture">
  <p:cSld name="Text-with-pictur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>
            <a:spLocks noGrp="1"/>
          </p:cNvSpPr>
          <p:nvPr>
            <p:ph type="pic" idx="2"/>
          </p:nvPr>
        </p:nvSpPr>
        <p:spPr>
          <a:xfrm>
            <a:off x="1727869" y="3936081"/>
            <a:ext cx="10099006" cy="721903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24"/>
          <p:cNvSpPr/>
          <p:nvPr/>
        </p:nvSpPr>
        <p:spPr>
          <a:xfrm>
            <a:off x="21856474" y="12962667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0" name="Google Shape;40;p24"/>
          <p:cNvSpPr/>
          <p:nvPr/>
        </p:nvSpPr>
        <p:spPr>
          <a:xfrm>
            <a:off x="21957416" y="13038867"/>
            <a:ext cx="125063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1" name="Google Shape;41;p24"/>
          <p:cNvSpPr/>
          <p:nvPr/>
        </p:nvSpPr>
        <p:spPr>
          <a:xfrm>
            <a:off x="22272519" y="12962229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2" name="Google Shape;42;p24"/>
          <p:cNvSpPr/>
          <p:nvPr/>
        </p:nvSpPr>
        <p:spPr>
          <a:xfrm flipH="1">
            <a:off x="22365174" y="13038429"/>
            <a:ext cx="124405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3" name="Google Shape;43;p24"/>
          <p:cNvSpPr/>
          <p:nvPr/>
        </p:nvSpPr>
        <p:spPr>
          <a:xfrm>
            <a:off x="23076810" y="811398"/>
            <a:ext cx="712976" cy="712954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4" name="Google Shape;44;p24"/>
          <p:cNvSpPr txBox="1"/>
          <p:nvPr/>
        </p:nvSpPr>
        <p:spPr>
          <a:xfrm>
            <a:off x="23009970" y="8196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-half-picture">
  <p:cSld name="1_Text-half-pictur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>
            <a:spLocks noGrp="1"/>
          </p:cNvSpPr>
          <p:nvPr>
            <p:ph type="pic" idx="2"/>
          </p:nvPr>
        </p:nvSpPr>
        <p:spPr>
          <a:xfrm>
            <a:off x="12147379" y="-13368"/>
            <a:ext cx="12277060" cy="1375855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Web Data Traffic">
  <p:cSld name="2_Web Data Traffic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>
            <a:spLocks noGrp="1"/>
          </p:cNvSpPr>
          <p:nvPr>
            <p:ph type="pic" idx="2"/>
          </p:nvPr>
        </p:nvSpPr>
        <p:spPr>
          <a:xfrm>
            <a:off x="10047288" y="4925808"/>
            <a:ext cx="12590794" cy="705188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26"/>
          <p:cNvSpPr txBox="1"/>
          <p:nvPr/>
        </p:nvSpPr>
        <p:spPr>
          <a:xfrm>
            <a:off x="23009970" y="8196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50" name="Google Shape;50;p26"/>
          <p:cNvSpPr/>
          <p:nvPr/>
        </p:nvSpPr>
        <p:spPr>
          <a:xfrm>
            <a:off x="22008874" y="13115067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1" name="Google Shape;51;p26"/>
          <p:cNvSpPr/>
          <p:nvPr/>
        </p:nvSpPr>
        <p:spPr>
          <a:xfrm>
            <a:off x="22109816" y="13191267"/>
            <a:ext cx="125063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2" name="Google Shape;52;p26"/>
          <p:cNvSpPr/>
          <p:nvPr/>
        </p:nvSpPr>
        <p:spPr>
          <a:xfrm>
            <a:off x="22424919" y="13114629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3" name="Google Shape;53;p26"/>
          <p:cNvSpPr/>
          <p:nvPr/>
        </p:nvSpPr>
        <p:spPr>
          <a:xfrm flipH="1">
            <a:off x="22517574" y="13190829"/>
            <a:ext cx="124405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4" name="Google Shape;54;p26"/>
          <p:cNvSpPr/>
          <p:nvPr/>
        </p:nvSpPr>
        <p:spPr>
          <a:xfrm>
            <a:off x="23229210" y="963798"/>
            <a:ext cx="712976" cy="712954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5" name="Google Shape;55;p26"/>
          <p:cNvSpPr txBox="1"/>
          <p:nvPr/>
        </p:nvSpPr>
        <p:spPr>
          <a:xfrm>
            <a:off x="23162370" y="9720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pp Design 01">
  <p:cSld name="1_App Design 0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>
            <a:spLocks noGrp="1"/>
          </p:cNvSpPr>
          <p:nvPr>
            <p:ph type="pic" idx="2"/>
          </p:nvPr>
        </p:nvSpPr>
        <p:spPr>
          <a:xfrm>
            <a:off x="3740150" y="3922713"/>
            <a:ext cx="5360988" cy="708897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7"/>
          <p:cNvSpPr/>
          <p:nvPr/>
        </p:nvSpPr>
        <p:spPr>
          <a:xfrm>
            <a:off x="21856474" y="12962667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9" name="Google Shape;59;p27"/>
          <p:cNvSpPr/>
          <p:nvPr/>
        </p:nvSpPr>
        <p:spPr>
          <a:xfrm>
            <a:off x="21957416" y="13038867"/>
            <a:ext cx="125063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0" name="Google Shape;60;p27"/>
          <p:cNvSpPr/>
          <p:nvPr/>
        </p:nvSpPr>
        <p:spPr>
          <a:xfrm>
            <a:off x="22272519" y="12962229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1" name="Google Shape;61;p27"/>
          <p:cNvSpPr/>
          <p:nvPr/>
        </p:nvSpPr>
        <p:spPr>
          <a:xfrm flipH="1">
            <a:off x="22365174" y="13038429"/>
            <a:ext cx="124405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2" name="Google Shape;62;p27"/>
          <p:cNvSpPr/>
          <p:nvPr/>
        </p:nvSpPr>
        <p:spPr>
          <a:xfrm>
            <a:off x="23076810" y="811398"/>
            <a:ext cx="712976" cy="712954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3" name="Google Shape;63;p27"/>
          <p:cNvSpPr txBox="1"/>
          <p:nvPr/>
        </p:nvSpPr>
        <p:spPr>
          <a:xfrm>
            <a:off x="23009970" y="8196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t-mockup">
  <p:cSld name="tablet-mockup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>
            <a:spLocks noGrp="1"/>
          </p:cNvSpPr>
          <p:nvPr>
            <p:ph type="pic" idx="2"/>
          </p:nvPr>
        </p:nvSpPr>
        <p:spPr>
          <a:xfrm>
            <a:off x="4314768" y="4227044"/>
            <a:ext cx="4058313" cy="545569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8"/>
          <p:cNvSpPr>
            <a:spLocks noGrp="1"/>
          </p:cNvSpPr>
          <p:nvPr>
            <p:ph type="pic" idx="3"/>
          </p:nvPr>
        </p:nvSpPr>
        <p:spPr>
          <a:xfrm>
            <a:off x="10144094" y="4227044"/>
            <a:ext cx="4156106" cy="545569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8"/>
          <p:cNvSpPr>
            <a:spLocks noGrp="1"/>
          </p:cNvSpPr>
          <p:nvPr>
            <p:ph type="pic" idx="4"/>
          </p:nvPr>
        </p:nvSpPr>
        <p:spPr>
          <a:xfrm>
            <a:off x="15832183" y="4231071"/>
            <a:ext cx="4157617" cy="545569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/>
          <p:nvPr/>
        </p:nvSpPr>
        <p:spPr>
          <a:xfrm>
            <a:off x="21856474" y="12962667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9" name="Google Shape;69;p28"/>
          <p:cNvSpPr/>
          <p:nvPr/>
        </p:nvSpPr>
        <p:spPr>
          <a:xfrm>
            <a:off x="21957416" y="13038867"/>
            <a:ext cx="125063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0" name="Google Shape;70;p28"/>
          <p:cNvSpPr/>
          <p:nvPr/>
        </p:nvSpPr>
        <p:spPr>
          <a:xfrm>
            <a:off x="22272519" y="12962229"/>
            <a:ext cx="350410" cy="357351"/>
          </a:xfrm>
          <a:custGeom>
            <a:avLst/>
            <a:gdLst/>
            <a:ahLst/>
            <a:cxnLst/>
            <a:rect l="l" t="t" r="r" b="b"/>
            <a:pathLst>
              <a:path w="444" h="454" extrusionOk="0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1" name="Google Shape;71;p28"/>
          <p:cNvSpPr/>
          <p:nvPr/>
        </p:nvSpPr>
        <p:spPr>
          <a:xfrm flipH="1">
            <a:off x="22365174" y="13038429"/>
            <a:ext cx="124405" cy="216775"/>
          </a:xfrm>
          <a:custGeom>
            <a:avLst/>
            <a:gdLst/>
            <a:ahLst/>
            <a:cxnLst/>
            <a:rect l="l" t="t" r="r" b="b"/>
            <a:pathLst>
              <a:path w="133" h="231" extrusionOk="0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2" name="Google Shape;72;p28"/>
          <p:cNvSpPr/>
          <p:nvPr/>
        </p:nvSpPr>
        <p:spPr>
          <a:xfrm>
            <a:off x="23076810" y="811398"/>
            <a:ext cx="712976" cy="712954"/>
          </a:xfrm>
          <a:prstGeom prst="teardrop">
            <a:avLst>
              <a:gd name="adj" fmla="val 1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3" name="Google Shape;73;p28"/>
          <p:cNvSpPr txBox="1"/>
          <p:nvPr/>
        </p:nvSpPr>
        <p:spPr>
          <a:xfrm>
            <a:off x="23009970" y="819678"/>
            <a:ext cx="885447" cy="61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b="1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sz="2800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reak-portfolio">
  <p:cSld name="Break-portfoli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>
            <a:spLocks noGrp="1"/>
          </p:cNvSpPr>
          <p:nvPr>
            <p:ph type="pic" idx="2"/>
          </p:nvPr>
        </p:nvSpPr>
        <p:spPr>
          <a:xfrm>
            <a:off x="7486247" y="8009113"/>
            <a:ext cx="16973839" cy="5915759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9"/>
          <p:cNvSpPr>
            <a:spLocks noGrp="1"/>
          </p:cNvSpPr>
          <p:nvPr>
            <p:ph type="pic" idx="3"/>
          </p:nvPr>
        </p:nvSpPr>
        <p:spPr>
          <a:xfrm>
            <a:off x="10062517" y="-80212"/>
            <a:ext cx="14397569" cy="813388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Break-2">
  <p:cSld name="2_Break-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0"/>
          <p:cNvSpPr>
            <a:spLocks noGrp="1"/>
          </p:cNvSpPr>
          <p:nvPr>
            <p:ph type="pic" idx="2"/>
          </p:nvPr>
        </p:nvSpPr>
        <p:spPr>
          <a:xfrm>
            <a:off x="0" y="-26736"/>
            <a:ext cx="24404390" cy="1383631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ato"/>
              <a:buNone/>
              <a:defRPr sz="6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marR="0" lvl="0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1675964" y="12712709"/>
            <a:ext cx="5484971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8075097" y="12712709"/>
            <a:ext cx="8227457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17216715" y="12712709"/>
            <a:ext cx="5484971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marR="0" lvl="1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AAAAAA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Relationship Id="rId4" Type="http://schemas.openxmlformats.org/officeDocument/2006/relationships/chart" Target="../charts/char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Relationship Id="rId4" Type="http://schemas.openxmlformats.org/officeDocument/2006/relationships/chart" Target="../charts/char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Relationship Id="rId4" Type="http://schemas.openxmlformats.org/officeDocument/2006/relationships/chart" Target="../charts/char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Relationship Id="rId4" Type="http://schemas.openxmlformats.org/officeDocument/2006/relationships/chart" Target="../charts/char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57200" y="3415264"/>
            <a:ext cx="23355300" cy="291164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DC5A1"/>
          </a:solidFill>
          <a:ln>
            <a:noFill/>
          </a:ln>
        </p:spPr>
        <p:txBody>
          <a:bodyPr spcFirstLastPara="1" wrap="square" lIns="50775" tIns="50775" rIns="50775" bIns="507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5400" b="0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896996" y="9885357"/>
            <a:ext cx="16143059" cy="9312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dirty="0">
              <a:solidFill>
                <a:srgbClr val="002060"/>
              </a:solidFill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Name:</a:t>
            </a:r>
          </a:p>
          <a:p>
            <a:pPr marL="0" marR="0" lvl="0" indent="0" algn="l" rtl="0">
              <a:lnSpc>
                <a:spcPct val="7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accent6"/>
                </a:solidFill>
                <a:latin typeface="Times New Roman"/>
                <a:cs typeface="Times New Roman"/>
                <a:sym typeface="Times New Roman"/>
              </a:rPr>
              <a:t>Roll No.:</a:t>
            </a:r>
          </a:p>
          <a:p>
            <a:pPr marL="0" marR="0" lvl="0" indent="0" algn="l" rtl="0">
              <a:lnSpc>
                <a:spcPct val="7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accent6"/>
                </a:solidFill>
                <a:latin typeface="Times New Roman"/>
                <a:cs typeface="Times New Roman"/>
                <a:sym typeface="Times New Roman"/>
              </a:rPr>
              <a:t>Branch:</a:t>
            </a:r>
          </a:p>
          <a:p>
            <a:pPr marL="0" marR="0" lvl="0" indent="0" algn="l" rtl="0">
              <a:lnSpc>
                <a:spcPct val="7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accent6"/>
                </a:solidFill>
                <a:latin typeface="Times New Roman"/>
                <a:cs typeface="Times New Roman"/>
                <a:sym typeface="Times New Roman"/>
              </a:rPr>
              <a:t>Semester:</a:t>
            </a:r>
            <a:endParaRPr sz="1200" dirty="0"/>
          </a:p>
          <a:p>
            <a:pPr marL="0" marR="0" lvl="0" indent="0" algn="l" rtl="0">
              <a:lnSpc>
                <a:spcPct val="70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3600" b="0" i="0" u="none" strike="noStrike" cap="none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						</a:t>
            </a:r>
            <a:endParaRPr sz="3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 rot="10800000" flipH="1">
            <a:off x="896996" y="9183889"/>
            <a:ext cx="3813254" cy="45719"/>
            <a:chOff x="1775295" y="2028842"/>
            <a:chExt cx="3631535" cy="45719"/>
          </a:xfrm>
        </p:grpSpPr>
        <p:sp>
          <p:nvSpPr>
            <p:cNvPr id="87" name="Google Shape;87;p1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93" name="Google Shape;93;p1"/>
          <p:cNvSpPr/>
          <p:nvPr/>
        </p:nvSpPr>
        <p:spPr>
          <a:xfrm>
            <a:off x="14203680" y="9620874"/>
            <a:ext cx="12473940" cy="208344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														</a:t>
            </a:r>
            <a:r>
              <a:rPr lang="en-US" sz="3600" b="1" i="0" u="none" strike="noStrike" cap="none" dirty="0">
                <a:solidFill>
                  <a:srgbClr val="002060"/>
                </a:solidFill>
                <a:latin typeface="Raleway"/>
                <a:ea typeface="Raleway"/>
                <a:cs typeface="Raleway"/>
                <a:sym typeface="Raleway"/>
              </a:rPr>
              <a:t>           </a:t>
            </a:r>
            <a:r>
              <a:rPr lang="en-US" sz="40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Guide:</a:t>
            </a:r>
          </a:p>
          <a:p>
            <a:pPr>
              <a:lnSpc>
                <a:spcPct val="70000"/>
              </a:lnSpc>
              <a:spcBef>
                <a:spcPts val="1700"/>
              </a:spcBef>
            </a:pPr>
            <a:r>
              <a:rPr lang="en-US" sz="40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Dr./Mr./Mrs. [Guide Name]</a:t>
            </a: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2060"/>
              </a:solidFill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           </a:t>
            </a:r>
            <a:r>
              <a:rPr lang="en-US" sz="4000" b="0" i="0" u="none" strike="noStrike" cap="none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                					</a:t>
            </a:r>
            <a:endParaRPr sz="4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412" y="1051945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254031" y="605227"/>
            <a:ext cx="19485477" cy="5498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dirty="0">
                <a:solidFill>
                  <a:srgbClr val="921F0E"/>
                </a:solidFill>
                <a:latin typeface="Times New Roman" panose="02020603050405020304" pitchFamily="18" charset="0"/>
              </a:rPr>
              <a:t>DR. D. Y. PATIL SCHOOL OF SCIENCE &amp; TECHNOLOGY</a:t>
            </a:r>
            <a:endParaRPr lang="en-US" sz="4800" dirty="0"/>
          </a:p>
          <a:p>
            <a:pPr algn="ctr">
              <a:lnSpc>
                <a:spcPct val="150000"/>
              </a:lnSpc>
            </a:pPr>
            <a:r>
              <a:rPr lang="en-US" sz="4800" b="1" dirty="0">
                <a:solidFill>
                  <a:srgbClr val="921F0E"/>
                </a:solidFill>
                <a:latin typeface="Times New Roman" panose="02020603050405020304" pitchFamily="18" charset="0"/>
              </a:rPr>
              <a:t>DR. D. Y. PATIL VIDYAPEETH (DPU), PIMPRI- PUNE</a:t>
            </a:r>
            <a:endParaRPr lang="en-US" sz="4800" dirty="0"/>
          </a:p>
          <a:p>
            <a:pPr algn="ctr">
              <a:lnSpc>
                <a:spcPct val="150000"/>
              </a:lnSpc>
            </a:pPr>
            <a:br>
              <a:rPr lang="en-US" sz="4800" dirty="0"/>
            </a:br>
            <a:r>
              <a:rPr lang="en-US" sz="48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Year</a:t>
            </a:r>
          </a:p>
          <a:p>
            <a:pPr algn="ctr">
              <a:lnSpc>
                <a:spcPct val="150000"/>
              </a:lnSpc>
            </a:pPr>
            <a:r>
              <a:rPr lang="en-US" sz="48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Presentation </a:t>
            </a:r>
            <a:endParaRPr lang="en-IN" sz="4800" dirty="0"/>
          </a:p>
        </p:txBody>
      </p:sp>
      <p:grpSp>
        <p:nvGrpSpPr>
          <p:cNvPr id="15" name="Google Shape;86;p1"/>
          <p:cNvGrpSpPr/>
          <p:nvPr/>
        </p:nvGrpSpPr>
        <p:grpSpPr>
          <a:xfrm rot="10800000" flipH="1">
            <a:off x="16045556" y="9420054"/>
            <a:ext cx="3813254" cy="45719"/>
            <a:chOff x="1775295" y="2028842"/>
            <a:chExt cx="3631535" cy="45719"/>
          </a:xfrm>
        </p:grpSpPr>
        <p:sp>
          <p:nvSpPr>
            <p:cNvPr id="16" name="Google Shape;87;p1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7" name="Google Shape;88;p1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8" name="Google Shape;89;p1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9" name="Google Shape;90;p1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0" name="Google Shape;91;p1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21" name="Google Shape;92;p1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95" name="Project title"/>
          <p:cNvSpPr txBox="1"/>
          <p:nvPr/>
        </p:nvSpPr>
        <p:spPr>
          <a:xfrm>
            <a:off x="914400" y="6629400"/>
            <a:ext cx="22494240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6600" b="1" i="0">
                <a:solidFill>
                  <a:srgbClr val="921F0E"/>
                </a:solidFill>
                <a:latin typeface="Times New Roman"/>
              </a:rPr>
              <a:t>FoodGuard AI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3600" b="0" i="1">
                <a:solidFill>
                  <a:srgbClr val="041B31"/>
                </a:solidFill>
                <a:latin typeface="Times New Roman"/>
              </a:rPr>
              <a:t>Photo-based food safety checks: produce spoilage detection and FSSAI label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60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" name="Google Shape;101;p2"/>
          <p:cNvGrpSpPr/>
          <p:nvPr/>
        </p:nvGrpSpPr>
        <p:grpSpPr>
          <a:xfrm>
            <a:off x="1730735" y="1783761"/>
            <a:ext cx="4088173" cy="45719"/>
            <a:chOff x="1775295" y="2028842"/>
            <a:chExt cx="3631535" cy="45719"/>
          </a:xfrm>
        </p:grpSpPr>
        <p:sp>
          <p:nvSpPr>
            <p:cNvPr id="5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6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7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8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9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11" name="Google Shape;100;p2"/>
          <p:cNvSpPr txBox="1"/>
          <p:nvPr/>
        </p:nvSpPr>
        <p:spPr>
          <a:xfrm>
            <a:off x="1371346" y="1687758"/>
            <a:ext cx="22292218" cy="1151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85800" marR="0" lvl="0" indent="-6858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marL="685800" marR="0" lvl="0" indent="-6858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marL="685800" marR="0" lvl="0" indent="-6858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 and Objectives</a:t>
            </a:r>
          </a:p>
          <a:p>
            <a:pPr marL="685800" marR="0" lvl="0" indent="-6858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Taken on Suggestions from the Last Review</a:t>
            </a:r>
          </a:p>
          <a:p>
            <a:pPr marL="685800" marR="0" lvl="0" indent="-6858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</a:p>
          <a:p>
            <a:pPr marL="685800" marR="0" lvl="0" indent="-6858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Gaps</a:t>
            </a:r>
          </a:p>
          <a:p>
            <a:pPr marL="685800" marR="0" lvl="0" indent="-6858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pPr marL="685800" marR="0" lvl="0" indent="-6858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&amp; Testing</a:t>
            </a:r>
          </a:p>
          <a:p>
            <a:pPr marL="685800" marR="0" lvl="0" indent="-6858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 and Discussions</a:t>
            </a:r>
          </a:p>
          <a:p>
            <a:pPr marL="685800" marR="0" lvl="0" indent="-6858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Findings</a:t>
            </a:r>
          </a:p>
          <a:p>
            <a:pPr marL="685800" marR="0" lvl="0" indent="-6858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 and Future Scope</a:t>
            </a:r>
          </a:p>
          <a:p>
            <a:pPr marL="685800" marR="0" lvl="0" indent="-6858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47159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/>
        </p:nvSpPr>
        <p:spPr>
          <a:xfrm>
            <a:off x="1615186" y="218344"/>
            <a:ext cx="19916049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6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taken to suggestions given during last progress</a:t>
            </a:r>
          </a:p>
        </p:txBody>
      </p:sp>
      <p:grpSp>
        <p:nvGrpSpPr>
          <p:cNvPr id="159" name="Google Shape;159;p6"/>
          <p:cNvGrpSpPr/>
          <p:nvPr/>
        </p:nvGrpSpPr>
        <p:grpSpPr>
          <a:xfrm>
            <a:off x="1730735" y="1783761"/>
            <a:ext cx="6581991" cy="45719"/>
            <a:chOff x="1775295" y="2028842"/>
            <a:chExt cx="3631535" cy="45719"/>
          </a:xfrm>
        </p:grpSpPr>
        <p:sp>
          <p:nvSpPr>
            <p:cNvPr id="160" name="Google Shape;160;p6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166" name="Google Shape;166;p6"/>
          <p:cNvSpPr/>
          <p:nvPr/>
        </p:nvSpPr>
        <p:spPr>
          <a:xfrm>
            <a:off x="2702748" y="6074352"/>
            <a:ext cx="1639876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75" tIns="0" rIns="24377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41B3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8A236B-66CF-6302-B34E-9035CD5BC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324055"/>
              </p:ext>
            </p:extLst>
          </p:nvPr>
        </p:nvGraphicFramePr>
        <p:xfrm>
          <a:off x="1596610" y="2467111"/>
          <a:ext cx="21020793" cy="8875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47602">
                  <a:extLst>
                    <a:ext uri="{9D8B030D-6E8A-4147-A177-3AD203B41FA5}">
                      <a16:colId xmlns:a16="http://schemas.microsoft.com/office/drawing/2014/main" val="1912069525"/>
                    </a:ext>
                  </a:extLst>
                </a:gridCol>
                <a:gridCol w="7277878">
                  <a:extLst>
                    <a:ext uri="{9D8B030D-6E8A-4147-A177-3AD203B41FA5}">
                      <a16:colId xmlns:a16="http://schemas.microsoft.com/office/drawing/2014/main" val="3753762831"/>
                    </a:ext>
                  </a:extLst>
                </a:gridCol>
                <a:gridCol w="11495313">
                  <a:extLst>
                    <a:ext uri="{9D8B030D-6E8A-4147-A177-3AD203B41FA5}">
                      <a16:colId xmlns:a16="http://schemas.microsoft.com/office/drawing/2014/main" val="1584452437"/>
                    </a:ext>
                  </a:extLst>
                </a:gridCol>
              </a:tblGrid>
              <a:tr h="1246473">
                <a:tc>
                  <a:txBody>
                    <a:bodyPr/>
                    <a:lstStyle/>
                    <a:p>
                      <a:pPr marL="0" marR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1" u="none" strike="noStrike" cap="none" dirty="0">
                          <a:solidFill>
                            <a:schemeClr val="dk2"/>
                          </a:solidFill>
                          <a:sym typeface="Arial"/>
                        </a:rPr>
                        <a:t>SR. No. </a:t>
                      </a:r>
                      <a:endParaRPr lang="en-US" sz="4000" b="1" i="0" u="none" strike="noStrike" cap="none" dirty="0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1" u="none" strike="noStrike" cap="none" dirty="0">
                          <a:solidFill>
                            <a:schemeClr val="dk2"/>
                          </a:solidFill>
                          <a:sym typeface="Arial"/>
                        </a:rPr>
                        <a:t>Suggestions Given during last progress</a:t>
                      </a:r>
                      <a:endParaRPr lang="en-US" sz="4000" b="1" i="0" u="none" strike="noStrike" cap="none" dirty="0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1" u="none" strike="noStrike" cap="none" dirty="0">
                          <a:solidFill>
                            <a:schemeClr val="dk2"/>
                          </a:solidFill>
                          <a:sym typeface="Arial"/>
                        </a:rPr>
                        <a:t>Action Taken</a:t>
                      </a:r>
                      <a:endParaRPr lang="en-US" sz="4000" b="1" i="0" u="none" strike="noStrike" cap="none" dirty="0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708515"/>
                  </a:ext>
                </a:extLst>
              </a:tr>
              <a:tr h="1751710">
                <a:tc>
                  <a:txBody>
                    <a:bodyPr/>
                    <a:lstStyle/>
                    <a:p>
                      <a:pPr marL="0" marR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>
                          <a:solidFill>
                            <a:schemeClr val="dk2"/>
                          </a:solidFill>
                          <a:sym typeface="Arial"/>
                        </a:rPr>
                        <a:t>1</a:t>
                      </a:r>
                      <a:endParaRPr lang="en-US" sz="4000" b="0" i="0" u="none" strike="noStrike" cap="none" dirty="0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>
                          <a:solidFill>
                            <a:schemeClr val="dk2"/>
                          </a:solidFill>
                          <a:sym typeface="Arial"/>
                        </a:rPr>
                        <a:t>[Suggestion given by the panel]</a:t>
                      </a:r>
                      <a:endParaRPr lang="en-US" sz="4000" b="0" i="0" u="none" strike="noStrike" cap="none" dirty="0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0" marR="0" indent="-5715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Char char="•"/>
                      </a:pPr>
                      <a:r>
                        <a:rPr lang="en-US" sz="4000" b="0" u="none" strike="noStrike" cap="none" dirty="0">
                          <a:solidFill>
                            <a:schemeClr val="dk2"/>
                          </a:solidFill>
                          <a:sym typeface="Arial"/>
                        </a:rPr>
                        <a:t>[Action taken, with results on a separate slide if needed]</a:t>
                      </a:r>
                      <a:endParaRPr lang="en-US" sz="4000" b="0" i="0" u="none" strike="noStrike" cap="none" dirty="0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928800"/>
                  </a:ext>
                </a:extLst>
              </a:tr>
              <a:tr h="1751710">
                <a:tc>
                  <a:txBody>
                    <a:bodyPr/>
                    <a:lstStyle/>
                    <a:p>
                      <a:pPr marL="0" marR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>
                          <a:solidFill>
                            <a:schemeClr val="dk2"/>
                          </a:solidFill>
                          <a:sym typeface="Arial"/>
                        </a:rPr>
                        <a:t>2</a:t>
                      </a:r>
                      <a:endParaRPr lang="en-US" sz="4000" b="0" i="0" u="none" strike="noStrike" cap="none" dirty="0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0" marR="0" indent="-5715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Char char="•"/>
                      </a:pPr>
                      <a:endParaRPr lang="en-US" sz="4000" b="0" i="0" u="none" strike="noStrike" cap="none" dirty="0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0" marR="0" indent="-5715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Char char="•"/>
                      </a:pPr>
                      <a:endParaRPr lang="en-US" sz="4000" b="0" i="0" u="none" strike="noStrike" cap="none" dirty="0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848453"/>
                  </a:ext>
                </a:extLst>
              </a:tr>
              <a:tr h="1751710">
                <a:tc>
                  <a:txBody>
                    <a:bodyPr/>
                    <a:lstStyle/>
                    <a:p>
                      <a:pPr marL="0" marR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>
                          <a:solidFill>
                            <a:schemeClr val="dk2"/>
                          </a:solidFill>
                          <a:sym typeface="Arial"/>
                        </a:rPr>
                        <a:t>3</a:t>
                      </a:r>
                      <a:endParaRPr lang="en-US" sz="4000" b="0" i="0" u="none" strike="noStrike" cap="none" dirty="0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0" marR="0" indent="-5715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Char char="•"/>
                      </a:pPr>
                      <a:endParaRPr lang="en-US" sz="4000" b="0" i="0" u="none" strike="noStrike" cap="none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0" marR="0" indent="-5715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Char char="•"/>
                      </a:pPr>
                      <a:endParaRPr lang="en-US" sz="4000" b="0" i="0" u="none" strike="noStrike" cap="none" dirty="0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576024"/>
                  </a:ext>
                </a:extLst>
              </a:tr>
              <a:tr h="1751710">
                <a:tc>
                  <a:txBody>
                    <a:bodyPr/>
                    <a:lstStyle/>
                    <a:p>
                      <a:pPr marL="0" marR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>
                          <a:solidFill>
                            <a:schemeClr val="dk2"/>
                          </a:solidFill>
                          <a:sym typeface="Arial"/>
                        </a:rPr>
                        <a:t>4</a:t>
                      </a:r>
                      <a:endParaRPr lang="en-US" sz="4000" b="0" i="0" u="none" strike="noStrike" cap="none" dirty="0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0" marR="0" indent="-5715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Char char="•"/>
                      </a:pPr>
                      <a:endParaRPr lang="en-US" sz="4000" b="0" i="0" u="none" strike="noStrike" cap="none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0" marR="0" indent="-57150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4000"/>
                        <a:buFont typeface="Arial"/>
                        <a:buChar char="•"/>
                      </a:pPr>
                      <a:endParaRPr lang="en-US" sz="4000" b="0" i="0" u="none" strike="noStrike" cap="none" dirty="0">
                        <a:solidFill>
                          <a:schemeClr val="dk2"/>
                        </a:solidFill>
                        <a:latin typeface="Times New Roman"/>
                        <a:cs typeface="Times New Roman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0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584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"/>
          <p:cNvSpPr txBox="1"/>
          <p:nvPr/>
        </p:nvSpPr>
        <p:spPr>
          <a:xfrm>
            <a:off x="9539984" y="6475146"/>
            <a:ext cx="5357116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>
                <a:solidFill>
                  <a:srgbClr val="2290F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8000" b="1">
              <a:solidFill>
                <a:srgbClr val="2290F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Graphic 2" descr="A flower bouquet">
            <a:extLst>
              <a:ext uri="{FF2B5EF4-FFF2-40B4-BE49-F238E27FC236}">
                <a16:creationId xmlns:a16="http://schemas.microsoft.com/office/drawing/2014/main" id="{6EA3D62E-7A48-E0A5-0F8D-78F0800492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40569" y="3337433"/>
            <a:ext cx="3520567" cy="35205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4151411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TextBox 107"/>
          <p:cNvSpPr txBox="1"/>
          <p:nvPr/>
        </p:nvSpPr>
        <p:spPr>
          <a:xfrm>
            <a:off x="1188720" y="2240280"/>
            <a:ext cx="12984480" cy="10058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000" b="1" i="0">
                <a:solidFill>
                  <a:srgbClr val="041B31"/>
                </a:solidFill>
                <a:latin typeface="Times New Roman"/>
              </a:rPr>
              <a:t>Background</a:t>
            </a:r>
          </a:p>
          <a:p>
            <a:pPr algn="l" marL="502920" indent="-502920">
              <a:lnSpc>
                <a:spcPct val="105000"/>
              </a:lnSpc>
              <a:spcAft>
                <a:spcPts val="16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3200" b="0" i="0">
                <a:solidFill>
                  <a:srgbClr val="1E1E1E"/>
                </a:solidFill>
                <a:latin typeface="Times New Roman"/>
              </a:rPr>
              <a:t>Shoppers judge fruit and vegetables by eye. Early spoilage (soft spots, mould, discolouration) is easy to miss, and stale produce is a common cause of food waste and stomach upsets.</a:t>
            </a:r>
          </a:p>
          <a:p>
            <a:pPr algn="l" marL="502920" indent="-502920">
              <a:lnSpc>
                <a:spcPct val="105000"/>
              </a:lnSpc>
              <a:spcAft>
                <a:spcPts val="16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3200" b="0" i="0">
                <a:solidFill>
                  <a:srgbClr val="1E1E1E"/>
                </a:solidFill>
                <a:latin typeface="Times New Roman"/>
              </a:rPr>
              <a:t>Packaged foods carry a nutrition table, but values per 100 g, per 100 ml or per serving, small print and glossy packs make it hard to tell whether a product is high in sugar, saturated fat or salt.</a:t>
            </a:r>
          </a:p>
          <a:p>
            <a:pPr algn="l" marL="502920" indent="-502920">
              <a:lnSpc>
                <a:spcPct val="105000"/>
              </a:lnSpc>
              <a:spcAft>
                <a:spcPts val="16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3200" b="0" i="0">
                <a:solidFill>
                  <a:srgbClr val="1E1E1E"/>
                </a:solidFill>
                <a:latin typeface="Times New Roman"/>
              </a:rPr>
              <a:t>FSSAI's Labelling and Display Regulations, 2020 [23] and its proposed front-of-pack warnings [24] set limits for these nutrients, yet consumers have no quick way to check a product against them.</a:t>
            </a:r>
          </a:p>
          <a:p>
            <a:pPr algn="l" marL="502920" indent="-502920">
              <a:lnSpc>
                <a:spcPct val="105000"/>
              </a:lnSpc>
              <a:spcAft>
                <a:spcPts val="16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3200" b="0" i="0">
                <a:solidFill>
                  <a:srgbClr val="1E1E1E"/>
                </a:solidFill>
                <a:latin typeface="Times New Roman"/>
              </a:rPr>
              <a:t>Deep learning can now grade images (CNNs) and read text in photos (OCR) on an ordinary PC.</a:t>
            </a:r>
          </a:p>
          <a:p>
            <a:pPr algn="l" marL="502920" indent="-502920">
              <a:lnSpc>
                <a:spcPct val="105000"/>
              </a:lnSpc>
              <a:spcAft>
                <a:spcPts val="16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3200" b="1" i="0">
                <a:solidFill>
                  <a:srgbClr val="1E1E1E"/>
                </a:solidFill>
                <a:latin typeface="Times New Roman"/>
              </a:rPr>
              <a:t>FoodGuard AI</a:t>
            </a:r>
            <a:r>
              <a:rPr sz="3200" b="0" i="0">
                <a:solidFill>
                  <a:srgbClr val="1E1E1E"/>
                </a:solidFill>
                <a:latin typeface="Times New Roman"/>
              </a:rPr>
              <a:t> turns 1–3 photos into one verdict (SAFE, CAUTION, UNSAFE, REJECTED or MISMATCH) with the reason, the evidence and a 0–100 health score.</a:t>
            </a:r>
          </a:p>
        </p:txBody>
      </p:sp>
      <p:pic>
        <p:nvPicPr>
          <p:cNvPr id="109" name="FoodGuard home page" descr="ui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2978331"/>
            <a:ext cx="8595360" cy="6753497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4630400" y="10287000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2400" b="0" i="1">
                <a:solidFill>
                  <a:srgbClr val="555555"/>
                </a:solidFill>
                <a:latin typeface="Times New Roman"/>
              </a:rPr>
              <a:t>FoodGuard AI web page (light theme)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6286281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TextBox 107"/>
          <p:cNvSpPr txBox="1"/>
          <p:nvPr/>
        </p:nvSpPr>
        <p:spPr>
          <a:xfrm>
            <a:off x="1188720" y="2423160"/>
            <a:ext cx="22037040" cy="3291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sz="3800" b="1" i="1">
                <a:solidFill>
                  <a:srgbClr val="0070C0"/>
                </a:solidFill>
                <a:latin typeface="Times New Roman"/>
              </a:rPr>
              <a:t>“Consumers cannot easily tell whether fresh produce has started to spoil, or whether a packaged food exceeds FSSAI limits for sugar, saturated fat and sodium. This project builds FoodGuard AI, a web application that gives one explained safety verdict from photographs, using a fine-tuned MobileNetV2 spoilage classifier, OCR of the nutrition label checked against FSSAI rules, and CLIP-based guardrails that refuse photos the system was not built for.”</a:t>
            </a:r>
          </a:p>
        </p:txBody>
      </p:sp>
      <p:sp>
        <p:nvSpPr>
          <p:cNvPr id="109" name="Problem card"/>
          <p:cNvSpPr/>
          <p:nvPr/>
        </p:nvSpPr>
        <p:spPr>
          <a:xfrm>
            <a:off x="1188720" y="6263640"/>
            <a:ext cx="7040880" cy="6035040"/>
          </a:xfrm>
          <a:prstGeom prst="roundRect">
            <a:avLst>
              <a:gd name="adj" fmla="val 8000"/>
            </a:avLst>
          </a:prstGeom>
          <a:solidFill>
            <a:srgbClr val="F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554480" y="6537960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800" b="1" i="0">
                <a:solidFill>
                  <a:srgbClr val="C42A13"/>
                </a:solidFill>
                <a:latin typeface="Times New Roman"/>
              </a:rPr>
              <a:t>Problem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54480" y="7406640"/>
            <a:ext cx="6309360" cy="4754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502920" indent="-502920">
              <a:lnSpc>
                <a:spcPct val="100000"/>
              </a:lnSpc>
              <a:spcAft>
                <a:spcPts val="1400"/>
              </a:spcAft>
              <a:buClr>
                <a:srgbClr val="C42A13"/>
              </a:buClr>
              <a:buFont typeface="Wingdings" pitchFamily="2" charset="2"/>
              <a:buChar char="§"/>
            </a:pPr>
            <a:r>
              <a:rPr sz="3000" b="0" i="0">
                <a:solidFill>
                  <a:srgbClr val="1E1E1E"/>
                </a:solidFill>
                <a:latin typeface="Times New Roman"/>
              </a:rPr>
              <a:t>Spoilage is judged by eye and is easy to miss.</a:t>
            </a:r>
          </a:p>
          <a:p>
            <a:pPr algn="l" marL="502920" indent="-502920">
              <a:lnSpc>
                <a:spcPct val="100000"/>
              </a:lnSpc>
              <a:spcAft>
                <a:spcPts val="1400"/>
              </a:spcAft>
              <a:buClr>
                <a:srgbClr val="C42A13"/>
              </a:buClr>
              <a:buFont typeface="Wingdings" pitchFamily="2" charset="2"/>
              <a:buChar char="§"/>
            </a:pPr>
            <a:r>
              <a:rPr sz="3000" b="0" i="0">
                <a:solidFill>
                  <a:srgbClr val="1E1E1E"/>
                </a:solidFill>
                <a:latin typeface="Times New Roman"/>
              </a:rPr>
              <a:t>Nutrition labels are hard to read and compare with FSSAI limits.</a:t>
            </a:r>
          </a:p>
          <a:p>
            <a:pPr algn="l" marL="502920" indent="-502920">
              <a:lnSpc>
                <a:spcPct val="100000"/>
              </a:lnSpc>
              <a:spcAft>
                <a:spcPts val="1400"/>
              </a:spcAft>
              <a:buClr>
                <a:srgbClr val="C42A13"/>
              </a:buClr>
              <a:buFont typeface="Wingdings" pitchFamily="2" charset="2"/>
              <a:buChar char="§"/>
            </a:pPr>
            <a:r>
              <a:rPr sz="3000" b="0" i="0">
                <a:solidFill>
                  <a:srgbClr val="1E1E1E"/>
                </a:solidFill>
                <a:latin typeface="Times New Roman"/>
              </a:rPr>
              <a:t>Existing classifiers answer confidently even for the wrong kind of photo.</a:t>
            </a:r>
          </a:p>
        </p:txBody>
      </p:sp>
      <p:sp>
        <p:nvSpPr>
          <p:cNvPr id="112" name="Solution card"/>
          <p:cNvSpPr/>
          <p:nvPr/>
        </p:nvSpPr>
        <p:spPr>
          <a:xfrm>
            <a:off x="8686800" y="6263640"/>
            <a:ext cx="7040880" cy="603504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9052560" y="6537960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800" b="1" i="0">
                <a:solidFill>
                  <a:srgbClr val="38B28A"/>
                </a:solidFill>
                <a:latin typeface="Times New Roman"/>
              </a:rPr>
              <a:t>Solution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52560" y="7406640"/>
            <a:ext cx="6309360" cy="4754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502920" indent="-502920">
              <a:lnSpc>
                <a:spcPct val="100000"/>
              </a:lnSpc>
              <a:spcAft>
                <a:spcPts val="1400"/>
              </a:spcAft>
              <a:buClr>
                <a:srgbClr val="38B28A"/>
              </a:buClr>
              <a:buFont typeface="Wingdings" pitchFamily="2" charset="2"/>
              <a:buChar char="§"/>
            </a:pPr>
            <a:r>
              <a:rPr sz="3000" b="0" i="0">
                <a:solidFill>
                  <a:srgbClr val="1E1E1E"/>
                </a:solidFill>
                <a:latin typeface="Times New Roman"/>
              </a:rPr>
              <a:t>One web page: choose a category, add 1–3 photos.</a:t>
            </a:r>
          </a:p>
          <a:p>
            <a:pPr algn="l" marL="502920" indent="-502920">
              <a:lnSpc>
                <a:spcPct val="100000"/>
              </a:lnSpc>
              <a:spcAft>
                <a:spcPts val="1400"/>
              </a:spcAft>
              <a:buClr>
                <a:srgbClr val="38B28A"/>
              </a:buClr>
              <a:buFont typeface="Wingdings" pitchFamily="2" charset="2"/>
              <a:buChar char="§"/>
            </a:pPr>
            <a:r>
              <a:rPr sz="3000" b="0" i="0">
                <a:solidFill>
                  <a:srgbClr val="1E1E1E"/>
                </a:solidFill>
                <a:latin typeface="Times New Roman"/>
              </a:rPr>
              <a:t>One verdict with a plain-language reason, a health score and food information.</a:t>
            </a:r>
          </a:p>
          <a:p>
            <a:pPr algn="l" marL="502920" indent="-502920">
              <a:lnSpc>
                <a:spcPct val="100000"/>
              </a:lnSpc>
              <a:spcAft>
                <a:spcPts val="1400"/>
              </a:spcAft>
              <a:buClr>
                <a:srgbClr val="38B28A"/>
              </a:buClr>
              <a:buFont typeface="Wingdings" pitchFamily="2" charset="2"/>
              <a:buChar char="§"/>
            </a:pPr>
            <a:r>
              <a:rPr sz="3000" b="0" i="0">
                <a:solidFill>
                  <a:srgbClr val="1E1E1E"/>
                </a:solidFill>
                <a:latin typeface="Times New Roman"/>
              </a:rPr>
              <a:t>Evidence shown: heat map, OCR boxes, red warning marks.</a:t>
            </a:r>
          </a:p>
        </p:txBody>
      </p:sp>
      <p:sp>
        <p:nvSpPr>
          <p:cNvPr id="115" name="Method card"/>
          <p:cNvSpPr/>
          <p:nvPr/>
        </p:nvSpPr>
        <p:spPr>
          <a:xfrm>
            <a:off x="16184880" y="6263640"/>
            <a:ext cx="7040880" cy="6035040"/>
          </a:xfrm>
          <a:prstGeom prst="roundRect">
            <a:avLst>
              <a:gd name="adj" fmla="val 8000"/>
            </a:avLst>
          </a:prstGeom>
          <a:solidFill>
            <a:srgbClr val="E2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16550640" y="6537960"/>
            <a:ext cx="630936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800" b="1" i="0">
                <a:solidFill>
                  <a:srgbClr val="16749F"/>
                </a:solidFill>
                <a:latin typeface="Times New Roman"/>
              </a:rPr>
              <a:t>Method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550640" y="7406640"/>
            <a:ext cx="6309360" cy="4754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502920" indent="-502920">
              <a:lnSpc>
                <a:spcPct val="100000"/>
              </a:lnSpc>
              <a:spcAft>
                <a:spcPts val="1400"/>
              </a:spcAft>
              <a:buClr>
                <a:srgbClr val="16749F"/>
              </a:buClr>
              <a:buFont typeface="Wingdings" pitchFamily="2" charset="2"/>
              <a:buChar char="§"/>
            </a:pPr>
            <a:r>
              <a:rPr sz="3000" b="0" i="0">
                <a:solidFill>
                  <a:srgbClr val="1E1E1E"/>
                </a:solidFill>
                <a:latin typeface="Times New Roman"/>
              </a:rPr>
              <a:t>MobileNetV2 fine-tuned on 12 fresh / stale classes.</a:t>
            </a:r>
          </a:p>
          <a:p>
            <a:pPr algn="l" marL="502920" indent="-502920">
              <a:lnSpc>
                <a:spcPct val="100000"/>
              </a:lnSpc>
              <a:spcAft>
                <a:spcPts val="1400"/>
              </a:spcAft>
              <a:buClr>
                <a:srgbClr val="16749F"/>
              </a:buClr>
              <a:buFont typeface="Wingdings" pitchFamily="2" charset="2"/>
              <a:buChar char="§"/>
            </a:pPr>
            <a:r>
              <a:rPr sz="3000" b="0" i="0">
                <a:solidFill>
                  <a:srgbClr val="1E1E1E"/>
                </a:solidFill>
                <a:latin typeface="Times New Roman"/>
              </a:rPr>
              <a:t>EasyOCR with multi-variant voting and an FSSAI rule engine.</a:t>
            </a:r>
          </a:p>
          <a:p>
            <a:pPr algn="l" marL="502920" indent="-502920">
              <a:lnSpc>
                <a:spcPct val="100000"/>
              </a:lnSpc>
              <a:spcAft>
                <a:spcPts val="1400"/>
              </a:spcAft>
              <a:buClr>
                <a:srgbClr val="16749F"/>
              </a:buClr>
              <a:buFont typeface="Wingdings" pitchFamily="2" charset="2"/>
              <a:buChar char="§"/>
            </a:pPr>
            <a:r>
              <a:rPr sz="3000" b="0" i="0">
                <a:solidFill>
                  <a:srgbClr val="1E1E1E"/>
                </a:solidFill>
                <a:latin typeface="Times New Roman"/>
              </a:rPr>
              <a:t>CLIP zero-shot guardrails and an Open Food Facts identity check.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 and Objectives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6436360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Aim"/>
          <p:cNvSpPr/>
          <p:nvPr/>
        </p:nvSpPr>
        <p:spPr>
          <a:xfrm>
            <a:off x="1188720" y="2240280"/>
            <a:ext cx="22037040" cy="173736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1554480" y="2240280"/>
            <a:ext cx="21305520" cy="17373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400" b="1" i="0">
                <a:solidFill>
                  <a:srgbClr val="1E1E1E"/>
                </a:solidFill>
                <a:latin typeface="Times New Roman"/>
              </a:rPr>
              <a:t>Aim:</a:t>
            </a:r>
            <a:r>
              <a:rPr sz="3400" b="0" i="0">
                <a:solidFill>
                  <a:srgbClr val="1E1E1E"/>
                </a:solidFill>
                <a:latin typeface="Times New Roman"/>
              </a:rPr>
              <a:t> to build a web-based system that tells a consumer, from photographs, whether a fresh fruit or vegetable or a packaged food is safe to eat, and explains why.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88720" y="43434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800" b="1" i="0">
                <a:solidFill>
                  <a:srgbClr val="041B31"/>
                </a:solidFill>
                <a:latin typeface="Times New Roman"/>
              </a:rPr>
              <a:t>Objectives</a:t>
            </a:r>
          </a:p>
        </p:txBody>
      </p:sp>
      <p:sp>
        <p:nvSpPr>
          <p:cNvPr id="111" name="Oval 110"/>
          <p:cNvSpPr/>
          <p:nvPr/>
        </p:nvSpPr>
        <p:spPr>
          <a:xfrm>
            <a:off x="1188720" y="5349240"/>
            <a:ext cx="822960" cy="822960"/>
          </a:xfrm>
          <a:prstGeom prst="ellipse">
            <a:avLst/>
          </a:prstGeom>
          <a:solidFill>
            <a:srgbClr val="C42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377440" y="5257800"/>
            <a:ext cx="20848320" cy="13716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100" b="0" i="0">
                <a:solidFill>
                  <a:srgbClr val="1E1E1E"/>
                </a:solidFill>
                <a:latin typeface="Times New Roman"/>
              </a:rPr>
              <a:t>Train a MobileNetV2 classifier for six produce types × fresh / stale on a leakage-free split by source photo, and calibrate a confidence threshold for SAFE and UNSAFE.</a:t>
            </a:r>
          </a:p>
        </p:txBody>
      </p:sp>
      <p:sp>
        <p:nvSpPr>
          <p:cNvPr id="113" name="Oval 112"/>
          <p:cNvSpPr/>
          <p:nvPr/>
        </p:nvSpPr>
        <p:spPr>
          <a:xfrm>
            <a:off x="1188720" y="6812280"/>
            <a:ext cx="822960" cy="822960"/>
          </a:xfrm>
          <a:prstGeom prst="ellipse">
            <a:avLst/>
          </a:prstGeom>
          <a:solidFill>
            <a:srgbClr val="F9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377440" y="6720840"/>
            <a:ext cx="20848320" cy="13716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100" b="0" i="0">
                <a:solidFill>
                  <a:srgbClr val="1E1E1E"/>
                </a:solidFill>
                <a:latin typeface="Times New Roman"/>
              </a:rPr>
              <a:t>Read nutrition tables from label photos with EasyOCR, combining several pre-processed versions of the image, and normalise values per 100 g or 100 ml.</a:t>
            </a:r>
          </a:p>
        </p:txBody>
      </p:sp>
      <p:sp>
        <p:nvSpPr>
          <p:cNvPr id="115" name="Oval 114"/>
          <p:cNvSpPr/>
          <p:nvPr/>
        </p:nvSpPr>
        <p:spPr>
          <a:xfrm>
            <a:off x="1188720" y="8275320"/>
            <a:ext cx="822960" cy="822960"/>
          </a:xfrm>
          <a:prstGeom prst="ellipse">
            <a:avLst/>
          </a:prstGeom>
          <a:solidFill>
            <a:srgbClr val="92A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377440" y="8183880"/>
            <a:ext cx="20848320" cy="13716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100" b="0" i="0">
                <a:solidFill>
                  <a:srgbClr val="1E1E1E"/>
                </a:solidFill>
                <a:latin typeface="Times New Roman"/>
              </a:rPr>
              <a:t>Encode FSSAI limits for solid, liquid and exempt foods in a configurable rule engine with red warning marks and an optional expiry-date check.</a:t>
            </a:r>
          </a:p>
        </p:txBody>
      </p:sp>
      <p:sp>
        <p:nvSpPr>
          <p:cNvPr id="117" name="Oval 116"/>
          <p:cNvSpPr/>
          <p:nvPr/>
        </p:nvSpPr>
        <p:spPr>
          <a:xfrm>
            <a:off x="1188720" y="9738360"/>
            <a:ext cx="822960" cy="822960"/>
          </a:xfrm>
          <a:prstGeom prst="ellipse">
            <a:avLst/>
          </a:prstGeom>
          <a:solidFill>
            <a:srgbClr val="38B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377440" y="9646920"/>
            <a:ext cx="20848320" cy="13716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100" b="0" i="0">
                <a:solidFill>
                  <a:srgbClr val="1E1E1E"/>
                </a:solidFill>
                <a:latin typeface="Times New Roman"/>
              </a:rPr>
              <a:t>Refuse inputs the system cannot judge: non-food photos, wrong categories and labels that belong to a different product (CLIP zero-shot, barcode and Open Food Facts).</a:t>
            </a:r>
          </a:p>
        </p:txBody>
      </p:sp>
      <p:sp>
        <p:nvSpPr>
          <p:cNvPr id="119" name="Oval 118"/>
          <p:cNvSpPr/>
          <p:nvPr/>
        </p:nvSpPr>
        <p:spPr>
          <a:xfrm>
            <a:off x="1188720" y="11201400"/>
            <a:ext cx="822960" cy="822960"/>
          </a:xfrm>
          <a:prstGeom prst="ellipse">
            <a:avLst/>
          </a:prstGeom>
          <a:solidFill>
            <a:srgbClr val="167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377440" y="11109960"/>
            <a:ext cx="20848320" cy="13716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100" b="0" i="0">
                <a:solidFill>
                  <a:srgbClr val="1E1E1E"/>
                </a:solidFill>
                <a:latin typeface="Times New Roman"/>
              </a:rPr>
              <a:t>Explain every decision on a web page: Grad-CAM heat map, OCR overlay, per-stage checks, plain-language reason and a 0–100 health score.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Review: CNNs and Transfer Learning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16018232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Literature table"/>
          <p:cNvGraphicFramePr>
            <a:graphicFrameLocks noGrp="1"/>
          </p:cNvGraphicFramePr>
          <p:nvPr/>
        </p:nvGraphicFramePr>
        <p:xfrm>
          <a:off x="1188720" y="2331720"/>
          <a:ext cx="22037040" cy="1005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51560"/>
                <a:gridCol w="2697480"/>
                <a:gridCol w="2743200"/>
                <a:gridCol w="4160520"/>
                <a:gridCol w="3108960"/>
                <a:gridCol w="3383280"/>
                <a:gridCol w="4892040"/>
              </a:tblGrid>
              <a:tr h="9144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Ref. No.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Author &amp; Year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Journal / Conference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Dataset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Performance (as reported)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Findings: merit and gap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[1]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Krizhevsky et al., 2012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NeurIPS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Deep CNN (5 conv + 3 FC layers), ReLU, dropout, GPU training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ImageNet ILSVRC-2012, 1.2 M images, 1000 classes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Top-5 error 15.3 % (winning entry)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Deep CNNs clearly beat hand-crafted features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60 M parameters; heavy for phones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[2]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Simonyan &amp; Zisserman, 2015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ICLR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Very deep CNN of stacked 3×3 convolutions (VGG-16/19)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ImageNet ILSVRC-2014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Top-5 error 7.3 % (ILSVRC-2014 entry)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Depth improves accuracy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~138 M parameters; slow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[3]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He et al., 2016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IEEE CVPR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Residual learning with skip connections (ResNet, up to 152 layers)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ImageNet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Top-5 error 3.57 % (ensemble, ILSVRC-2015)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Very deep networks become trainable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Large models for edge use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[4]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Sandler et al., 2018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IEEE/CVF CVPR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Inverted residuals, linear bottlenecks, depthwise separable convolutions (MobileNetV2)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ImageNet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72.0 % top-1 with 3.4 M parameters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Near large-model accuracy at low cost; chosen backbone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Generic; must be fine-tuned for spoilage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[5]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Yosinski et al., 2014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NeurIPS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Layer-by-layer transfer of frozen and fine-tuned features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ImageNet split into two 500-class halves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Fine-tuned transferred features generalised better than training from scratch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Justifies fine-tuning on small datasets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No food-specific results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(Continued): Produce Quality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15874563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Literature table"/>
          <p:cNvGraphicFramePr>
            <a:graphicFrameLocks noGrp="1"/>
          </p:cNvGraphicFramePr>
          <p:nvPr/>
        </p:nvGraphicFramePr>
        <p:xfrm>
          <a:off x="1188720" y="2331720"/>
          <a:ext cx="22037040" cy="1005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51560"/>
                <a:gridCol w="2697480"/>
                <a:gridCol w="2743200"/>
                <a:gridCol w="4160520"/>
                <a:gridCol w="3108960"/>
                <a:gridCol w="3383280"/>
                <a:gridCol w="4892040"/>
              </a:tblGrid>
              <a:tr h="9144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Ref. No.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Author &amp; Year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Journal / Conference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Dataset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Performance (as reported)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Findings: merit and gap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[6]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Tan &amp; Le, 2019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ICML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Compound scaling of depth, width and resolution (EfficientNet)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ImageNet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84.3 % top-1 (B7)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Best accuracy per computation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Larger variants slow to fine-tune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[7]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Kamilaris &amp; Prenafeta-Boldú, 2018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Computers and Electronics in Agriculture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Survey of deep learning in agriculture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40 studies reviewed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Deep learning beat conventional image processing in most studies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Confirms CNNs for agri-vision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Few freshness or consumer-facing studies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[8]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Bhargava &amp; Bansal, 2021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J. King Saud Univ. – Computer and Information Sciences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Review of colour, texture and shape features; classical ML to CNNs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Various (reviewed)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Review; no single metric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Maps the full quality-grading pipeline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Mostly controlled imaging, not phone photos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[9]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Mureșan &amp; Oltean, 2018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Acta Univ. Sapientiae, Informatica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CNN for fruit recognition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Fruits-360 (fruit on uniform white background)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High fruit-type accuracy reported on clean images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Large, clean public dataset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Recognises fruit type, not freshness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[10]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Hossain et al., 2019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IEEE Trans. Industrial Informatics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Light 6-layer CNN and fine-tuned VGG-16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Two fruit datasets (one public, one supermarket images)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High accuracy on both datasets (reported)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Fine-tuning helps on harder images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No handling of invalid input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(Continued): Explainability and OCR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18440181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Literature table"/>
          <p:cNvGraphicFramePr>
            <a:graphicFrameLocks noGrp="1"/>
          </p:cNvGraphicFramePr>
          <p:nvPr/>
        </p:nvGraphicFramePr>
        <p:xfrm>
          <a:off x="1188720" y="2331720"/>
          <a:ext cx="22037040" cy="1005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51560"/>
                <a:gridCol w="2697480"/>
                <a:gridCol w="2743200"/>
                <a:gridCol w="4160520"/>
                <a:gridCol w="3108960"/>
                <a:gridCol w="3383280"/>
                <a:gridCol w="4892040"/>
              </a:tblGrid>
              <a:tr h="9144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Ref. No.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Author &amp; Year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Journal / Conference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Dataset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Performance (as reported)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Findings: merit and gap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[11]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Kaufman et al., 2012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ACM Trans. Knowledge Discovery from Data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Formal definition, detection and avoidance of data leakage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Case studies incl. data-mining contests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Analysis; no accuracy metric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Explains inflated test scores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General ML, not image-specific; motivated our split by source photo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[12]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Selvaraju et al., 2017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IEEE ICCV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Gradient-weighted class activation mapping (Grad-CAM)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ImageNet localisation, VQA, captioning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Class-specific maps for any CNN; user studies showed improved trust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No change to the architecture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Coarse, low-resolution maps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[13]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Smith, 2007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ICDAR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Tesseract: line finding, word recognition, adaptive classifier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Scanned documents (UNLV tests)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Among the top 3 engines in the 1995 UNLV accuracy test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Mature, open source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Weak on curved, glossy, low-contrast label photos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[14]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Zhou et al., 2017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IEEE CVPR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EAST: one fully convolutional network predicts word / line boxes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ICDAR 2015, COCO-Text, MSRA-TD500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F-score 0.782 on ICDAR 2015 at 13.2 fps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Fast, simple detection pipeline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Detection only; long curved lines are hard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[15]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Baek et al., 2019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IEEE/CVF CVPR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CRAFT: character-region and affinity scores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ICDAR 2013/2015/2017, MSRA-TD500, Total-Text, CTW-1500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Outperformed earlier detectors on most of these benchmarks (reported)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Robust to curved, irregular text; used in EasyOCR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Detection only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(Continued): OOD and Labelling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16956821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Literature table"/>
          <p:cNvGraphicFramePr>
            <a:graphicFrameLocks noGrp="1"/>
          </p:cNvGraphicFramePr>
          <p:nvPr/>
        </p:nvGraphicFramePr>
        <p:xfrm>
          <a:off x="1188720" y="2331720"/>
          <a:ext cx="22037040" cy="1005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51560"/>
                <a:gridCol w="2697480"/>
                <a:gridCol w="2743200"/>
                <a:gridCol w="4160520"/>
                <a:gridCol w="3108960"/>
                <a:gridCol w="3383280"/>
                <a:gridCol w="4892040"/>
              </a:tblGrid>
              <a:tr h="9144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Ref. No.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Author &amp; Year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Journal / Conference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Dataset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Performance (as reported)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Findings: merit and gap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[16]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Shi, Bai &amp; Yao, 2017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IEEE TPAMI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CRNN: CNN features + BiLSTM + CTC transcription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IIIT5K, SVT, ICDAR 2003/2013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Competitive with or better than prior methods with a smaller model (reported)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End-to-end; text of any length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Sensitive to blur and glare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[17]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Hendrycks &amp; Gimpel, 2017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ICLR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Maximum softmax probability as an out-of-distribution score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Vision, NLP and speech benchmarks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Measured by AUROC / AUPR; a baseline above chance on all tasks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Simple, no retraining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Weak separation; networks over-confident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[18]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Liang, Li &amp; Srikant, 2018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ICLR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ODIN: temperature scaling + small input perturbation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CIFAR-10/100 vs TinyImageNet, LSUN and others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FPR at 95 % TPR cut from 34.7 % to 4.3 % (DenseNet, CIFAR-10)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Large gain without retraining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Needs tuning with outlier data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[19]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Radford et al., 2021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ICML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CLIP: contrastive image–text pre-training; zero-shot classification by text prompts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400 M image–text pairs; tested on 30+ datasets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76.2 % zero-shot top-1 on ImageNet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Classifies against any prompt; basis of our guardrails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Needs prompt design and calibration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[20]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Taillie et al., 2020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PLOS Medicine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Before-and-after study of Chile's “HIGH IN” warning labels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Household purchase panel, 2015–2017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Purchases of high-in sugary drinks fell by 23.7 % (volume)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1D6B4F"/>
                          </a:solidFill>
                          <a:latin typeface="Times New Roman"/>
                        </a:rPr>
                        <a:t>Merit:</a:t>
                      </a:r>
                      <a:r>
                        <a:rPr sz="2300" b="0" i="0">
                          <a:solidFill>
                            <a:srgbClr val="1D6B4F"/>
                          </a:solidFill>
                          <a:latin typeface="Times New Roman"/>
                        </a:rPr>
                        <a:t> Simple warnings change behaviour; inspired red marks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C42A13"/>
                          </a:solidFill>
                          <a:latin typeface="Times New Roman"/>
                        </a:rPr>
                        <a:t>Gap:</a:t>
                      </a:r>
                      <a:r>
                        <a:rPr sz="2300" b="0" i="0">
                          <a:solidFill>
                            <a:srgbClr val="C42A13"/>
                          </a:solidFill>
                          <a:latin typeface="Times New Roman"/>
                        </a:rPr>
                        <a:t> Policy study, not a tool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Gaps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4889281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TextBox 107"/>
          <p:cNvSpPr txBox="1"/>
          <p:nvPr/>
        </p:nvSpPr>
        <p:spPr>
          <a:xfrm>
            <a:off x="2377440" y="2331720"/>
            <a:ext cx="12344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000" b="1" i="0">
                <a:solidFill>
                  <a:srgbClr val="041B31"/>
                </a:solidFill>
                <a:latin typeface="Times New Roman"/>
              </a:rPr>
              <a:t>Gap observed in the literature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5819120" y="23317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000" b="1" i="0">
                <a:solidFill>
                  <a:srgbClr val="041B31"/>
                </a:solidFill>
                <a:latin typeface="Times New Roman"/>
              </a:rPr>
              <a:t>How FoodGuard AI addresses it</a:t>
            </a:r>
          </a:p>
        </p:txBody>
      </p:sp>
      <p:sp>
        <p:nvSpPr>
          <p:cNvPr id="110" name="Oval 109"/>
          <p:cNvSpPr/>
          <p:nvPr/>
        </p:nvSpPr>
        <p:spPr>
          <a:xfrm>
            <a:off x="1188720" y="3383280"/>
            <a:ext cx="822960" cy="822960"/>
          </a:xfrm>
          <a:prstGeom prst="ellipse">
            <a:avLst/>
          </a:prstGeom>
          <a:solidFill>
            <a:srgbClr val="C42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377440" y="3063240"/>
            <a:ext cx="12710160" cy="169163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42A13"/>
                </a:solidFill>
                <a:latin typeface="Times New Roman"/>
              </a:rPr>
              <a:t>Research Gap 1: Freshness, not just fruit type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Produce papers [9], [10] mostly recognise the type of fruit; freshness grading is rarer, and augmented copies of a photo can leak into the test set [11].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5133320" y="3794760"/>
            <a:ext cx="548640" cy="0"/>
          </a:xfrm>
          <a:prstGeom prst="line">
            <a:avLst/>
          </a:prstGeom>
          <a:ln w="38100">
            <a:solidFill>
              <a:srgbClr val="C42A1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15819120" y="3154680"/>
            <a:ext cx="7406640" cy="1554479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12-class fresh / stale model; dataset split by source photo.</a:t>
            </a:r>
          </a:p>
        </p:txBody>
      </p:sp>
      <p:sp>
        <p:nvSpPr>
          <p:cNvPr id="114" name="Oval 113"/>
          <p:cNvSpPr/>
          <p:nvPr/>
        </p:nvSpPr>
        <p:spPr>
          <a:xfrm>
            <a:off x="1188720" y="5257799"/>
            <a:ext cx="822960" cy="822960"/>
          </a:xfrm>
          <a:prstGeom prst="ellipse">
            <a:avLst/>
          </a:prstGeom>
          <a:solidFill>
            <a:srgbClr val="F9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377440" y="4937759"/>
            <a:ext cx="12710160" cy="169163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9711C"/>
                </a:solidFill>
                <a:latin typeface="Times New Roman"/>
              </a:rPr>
              <a:t>Research Gap 2: No refusal of unsuitable photos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Classifiers give confident answers for any input [17], [18], including non-food photos.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15133320" y="5669279"/>
            <a:ext cx="548640" cy="0"/>
          </a:xfrm>
          <a:prstGeom prst="line">
            <a:avLst/>
          </a:prstGeom>
          <a:ln w="38100">
            <a:solidFill>
              <a:srgbClr val="F971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15819120" y="5029199"/>
            <a:ext cx="7406640" cy="1554479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CLIP zero-shot guardrails [19] reject non-food, wrong-category and unsupported items.</a:t>
            </a:r>
          </a:p>
        </p:txBody>
      </p:sp>
      <p:sp>
        <p:nvSpPr>
          <p:cNvPr id="118" name="Oval 117"/>
          <p:cNvSpPr/>
          <p:nvPr/>
        </p:nvSpPr>
        <p:spPr>
          <a:xfrm>
            <a:off x="1188720" y="7132318"/>
            <a:ext cx="822960" cy="822960"/>
          </a:xfrm>
          <a:prstGeom prst="ellipse">
            <a:avLst/>
          </a:prstGeom>
          <a:solidFill>
            <a:srgbClr val="92A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377440" y="6812278"/>
            <a:ext cx="12710160" cy="169163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92AF27"/>
                </a:solidFill>
                <a:latin typeface="Times New Roman"/>
              </a:rPr>
              <a:t>Research Gap 3: Fragile reading of label photos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Document OCR [13] struggles with glossy, curved labels; recognisers are sensitive to blur [16].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5133320" y="7543798"/>
            <a:ext cx="548640" cy="0"/>
          </a:xfrm>
          <a:prstGeom prst="line">
            <a:avLst/>
          </a:prstGeom>
          <a:ln w="38100">
            <a:solidFill>
              <a:srgbClr val="92AF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15819120" y="6903718"/>
            <a:ext cx="7406640" cy="1554479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Several pre-processed versions read and combined by voting, with plausibility checks.</a:t>
            </a:r>
          </a:p>
        </p:txBody>
      </p:sp>
      <p:sp>
        <p:nvSpPr>
          <p:cNvPr id="122" name="Oval 121"/>
          <p:cNvSpPr/>
          <p:nvPr/>
        </p:nvSpPr>
        <p:spPr>
          <a:xfrm>
            <a:off x="1188720" y="9006837"/>
            <a:ext cx="822960" cy="822960"/>
          </a:xfrm>
          <a:prstGeom prst="ellipse">
            <a:avLst/>
          </a:prstGeom>
          <a:solidFill>
            <a:srgbClr val="38B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77440" y="8686797"/>
            <a:ext cx="12710160" cy="169163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8B28A"/>
                </a:solidFill>
                <a:latin typeface="Times New Roman"/>
              </a:rPr>
              <a:t>Research Gap 4: One set of limits, no identity check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One set of nutrient limits is applied to all foods, and nothing checks the label belongs to the product named.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5133320" y="9418317"/>
            <a:ext cx="548640" cy="0"/>
          </a:xfrm>
          <a:prstGeom prst="line">
            <a:avLst/>
          </a:prstGeom>
          <a:ln w="38100">
            <a:solidFill>
              <a:srgbClr val="38B2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15819120" y="8778237"/>
            <a:ext cx="7406640" cy="1554479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Separate solid / liquid / exempt limits; barcode, Open Food Facts and brand cross-check.</a:t>
            </a:r>
          </a:p>
        </p:txBody>
      </p:sp>
      <p:sp>
        <p:nvSpPr>
          <p:cNvPr id="126" name="Oval 125"/>
          <p:cNvSpPr/>
          <p:nvPr/>
        </p:nvSpPr>
        <p:spPr>
          <a:xfrm>
            <a:off x="1188720" y="10881356"/>
            <a:ext cx="822960" cy="822960"/>
          </a:xfrm>
          <a:prstGeom prst="ellipse">
            <a:avLst/>
          </a:prstGeom>
          <a:solidFill>
            <a:srgbClr val="167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377440" y="10561316"/>
            <a:ext cx="12710160" cy="169163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749F"/>
                </a:solidFill>
                <a:latin typeface="Times New Roman"/>
              </a:rPr>
              <a:t>Research Gap 5: Decisions are not explained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Users see a label or score without the reason; Grad-CAM [12] is rarely shown to end users.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5133320" y="11292836"/>
            <a:ext cx="548640" cy="0"/>
          </a:xfrm>
          <a:prstGeom prst="line">
            <a:avLst/>
          </a:prstGeom>
          <a:ln w="38100">
            <a:solidFill>
              <a:srgbClr val="1674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ounded Rectangle 128"/>
          <p:cNvSpPr/>
          <p:nvPr/>
        </p:nvSpPr>
        <p:spPr>
          <a:xfrm>
            <a:off x="15819120" y="10652756"/>
            <a:ext cx="7406640" cy="1554479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Heat map, OCR boxes, per-stage checks, plain-language reason, health score.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Methodology: Overall System Architecture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14029868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User input"/>
          <p:cNvSpPr/>
          <p:nvPr/>
        </p:nvSpPr>
        <p:spPr>
          <a:xfrm>
            <a:off x="1188720" y="3977640"/>
            <a:ext cx="509778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25400">
            <a:solidFill>
              <a:srgbClr val="041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041B31"/>
                </a:solidFill>
                <a:latin typeface="Times New Roman"/>
              </a:rPr>
              <a:t>User input</a:t>
            </a:r>
          </a:p>
          <a:p>
            <a:pPr algn="ctr">
              <a:spcAft>
                <a:spcPts val="4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1–3 photos + category; optional name, barcode, expiry</a:t>
            </a:r>
          </a:p>
        </p:txBody>
      </p:sp>
      <p:sp>
        <p:nvSpPr>
          <p:cNvPr id="109" name="Stage 1: Is it food?"/>
          <p:cNvSpPr/>
          <p:nvPr/>
        </p:nvSpPr>
        <p:spPr>
          <a:xfrm>
            <a:off x="6835140" y="3977640"/>
            <a:ext cx="5097780" cy="2103120"/>
          </a:xfrm>
          <a:prstGeom prst="roundRect">
            <a:avLst>
              <a:gd name="adj" fmla="val 8000"/>
            </a:avLst>
          </a:prstGeom>
          <a:solidFill>
            <a:srgbClr val="E2EFF6"/>
          </a:solidFill>
          <a:ln w="25400">
            <a:solidFill>
              <a:srgbClr val="167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6749F"/>
                </a:solidFill>
                <a:latin typeface="Times New Roman"/>
              </a:rPr>
              <a:t>Stage 1: Is it food?</a:t>
            </a:r>
          </a:p>
          <a:p>
            <a:pPr algn="ctr">
              <a:spcAft>
                <a:spcPts val="4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CLIP zero-shot, 43 prompts, P(food) ≥ 0.40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332220" y="5029200"/>
            <a:ext cx="45720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ject"/>
          <p:cNvSpPr/>
          <p:nvPr/>
        </p:nvSpPr>
        <p:spPr>
          <a:xfrm>
            <a:off x="7200900" y="2240280"/>
            <a:ext cx="4366260" cy="1280160"/>
          </a:xfrm>
          <a:prstGeom prst="roundRect">
            <a:avLst>
              <a:gd name="adj" fmla="val 8000"/>
            </a:avLst>
          </a:prstGeom>
          <a:solidFill>
            <a:srgbClr val="F8E1DD"/>
          </a:solidFill>
          <a:ln w="25400">
            <a:solidFill>
              <a:srgbClr val="C42A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C42A13"/>
                </a:solidFill>
                <a:latin typeface="Times New Roman"/>
              </a:rPr>
              <a:t>REJECTED: not food / cooked dish</a:t>
            </a:r>
          </a:p>
        </p:txBody>
      </p:sp>
      <p:cxnSp>
        <p:nvCxnSpPr>
          <p:cNvPr id="112" name="Connector 111"/>
          <p:cNvCxnSpPr/>
          <p:nvPr/>
        </p:nvCxnSpPr>
        <p:spPr>
          <a:xfrm flipV="1">
            <a:off x="9384030" y="3566160"/>
            <a:ext cx="0" cy="365760"/>
          </a:xfrm>
          <a:prstGeom prst="line">
            <a:avLst/>
          </a:prstGeom>
          <a:ln w="38100">
            <a:solidFill>
              <a:srgbClr val="C42A1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Stage 2: Right category?"/>
          <p:cNvSpPr/>
          <p:nvPr/>
        </p:nvSpPr>
        <p:spPr>
          <a:xfrm>
            <a:off x="12481560" y="3977640"/>
            <a:ext cx="5097780" cy="2103120"/>
          </a:xfrm>
          <a:prstGeom prst="roundRect">
            <a:avLst>
              <a:gd name="adj" fmla="val 8000"/>
            </a:avLst>
          </a:prstGeom>
          <a:solidFill>
            <a:srgbClr val="E2EFF6"/>
          </a:solidFill>
          <a:ln w="25400">
            <a:solidFill>
              <a:srgbClr val="167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6749F"/>
                </a:solidFill>
                <a:latin typeface="Times New Roman"/>
              </a:rPr>
              <a:t>Stage 2: Right category?</a:t>
            </a:r>
          </a:p>
          <a:p>
            <a:pPr algn="ctr">
              <a:spcAft>
                <a:spcPts val="4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raw vs packaged; solid vs liquid; supported produce; readable label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1978640" y="5029200"/>
            <a:ext cx="45720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ject"/>
          <p:cNvSpPr/>
          <p:nvPr/>
        </p:nvSpPr>
        <p:spPr>
          <a:xfrm>
            <a:off x="12847320" y="2240280"/>
            <a:ext cx="4366260" cy="1280160"/>
          </a:xfrm>
          <a:prstGeom prst="roundRect">
            <a:avLst>
              <a:gd name="adj" fmla="val 8000"/>
            </a:avLst>
          </a:prstGeom>
          <a:solidFill>
            <a:srgbClr val="F8E1DD"/>
          </a:solidFill>
          <a:ln w="25400">
            <a:solidFill>
              <a:srgbClr val="C42A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C42A13"/>
                </a:solidFill>
                <a:latin typeface="Times New Roman"/>
              </a:rPr>
              <a:t>MISMATCH or REJECTED: wrong category, unsupported item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15030450" y="3566160"/>
            <a:ext cx="0" cy="365760"/>
          </a:xfrm>
          <a:prstGeom prst="line">
            <a:avLst/>
          </a:prstGeom>
          <a:ln w="38100">
            <a:solidFill>
              <a:srgbClr val="C42A1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Stage 3: Same product?"/>
          <p:cNvSpPr/>
          <p:nvPr/>
        </p:nvSpPr>
        <p:spPr>
          <a:xfrm>
            <a:off x="18127980" y="3977640"/>
            <a:ext cx="5097780" cy="2103120"/>
          </a:xfrm>
          <a:prstGeom prst="roundRect">
            <a:avLst>
              <a:gd name="adj" fmla="val 8000"/>
            </a:avLst>
          </a:prstGeom>
          <a:solidFill>
            <a:srgbClr val="E2EFF6"/>
          </a:solidFill>
          <a:ln w="25400">
            <a:solidFill>
              <a:srgbClr val="167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6749F"/>
                </a:solidFill>
                <a:latin typeface="Times New Roman"/>
              </a:rPr>
              <a:t>Stage 3: Same product?</a:t>
            </a:r>
          </a:p>
          <a:p>
            <a:pPr algn="ctr">
              <a:spcAft>
                <a:spcPts val="4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barcode, Open Food Facts, brand families, nutrient cross-check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17625060" y="5029200"/>
            <a:ext cx="45720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ject"/>
          <p:cNvSpPr/>
          <p:nvPr/>
        </p:nvSpPr>
        <p:spPr>
          <a:xfrm>
            <a:off x="18493740" y="2240280"/>
            <a:ext cx="4366260" cy="1280160"/>
          </a:xfrm>
          <a:prstGeom prst="roundRect">
            <a:avLst>
              <a:gd name="adj" fmla="val 8000"/>
            </a:avLst>
          </a:prstGeom>
          <a:solidFill>
            <a:srgbClr val="F8E1DD"/>
          </a:solidFill>
          <a:ln w="25400">
            <a:solidFill>
              <a:srgbClr val="C42A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C42A13"/>
                </a:solidFill>
                <a:latin typeface="Times New Roman"/>
              </a:rPr>
              <a:t>MISMATCH: a different product</a:t>
            </a:r>
          </a:p>
        </p:txBody>
      </p:sp>
      <p:cxnSp>
        <p:nvCxnSpPr>
          <p:cNvPr id="120" name="Connector 119"/>
          <p:cNvCxnSpPr/>
          <p:nvPr/>
        </p:nvCxnSpPr>
        <p:spPr>
          <a:xfrm flipV="1">
            <a:off x="20676870" y="3566160"/>
            <a:ext cx="0" cy="365760"/>
          </a:xfrm>
          <a:prstGeom prst="line">
            <a:avLst/>
          </a:prstGeom>
          <a:ln w="38100">
            <a:solidFill>
              <a:srgbClr val="C42A1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Pipeline A: raw produce"/>
          <p:cNvSpPr/>
          <p:nvPr/>
        </p:nvSpPr>
        <p:spPr>
          <a:xfrm>
            <a:off x="1188720" y="6675120"/>
            <a:ext cx="10744200" cy="251460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 w="25400">
            <a:solidFill>
              <a:srgbClr val="38B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38B28A"/>
                </a:solidFill>
                <a:latin typeface="Times New Roman"/>
              </a:rPr>
              <a:t>Pipeline A: raw produce</a:t>
            </a:r>
          </a:p>
          <a:p>
            <a:pPr algn="ctr">
              <a:spcAft>
                <a:spcPts val="4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MobileNetV2, 12 classes · SAFE if P(fresh) ≥ 0.85, UNSAFE if P(stale) ≥ 0.85, else CAUTION · Grad-CAM heat map</a:t>
            </a:r>
          </a:p>
        </p:txBody>
      </p:sp>
      <p:sp>
        <p:nvSpPr>
          <p:cNvPr id="122" name="Pipeline B: packaged food"/>
          <p:cNvSpPr/>
          <p:nvPr/>
        </p:nvSpPr>
        <p:spPr>
          <a:xfrm>
            <a:off x="12481560" y="6675120"/>
            <a:ext cx="10744200" cy="251460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 w="25400">
            <a:solidFill>
              <a:srgbClr val="38B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38B28A"/>
                </a:solidFill>
                <a:latin typeface="Times New Roman"/>
              </a:rPr>
              <a:t>Pipeline B: packaged food</a:t>
            </a:r>
          </a:p>
          <a:p>
            <a:pPr algn="ctr">
              <a:spcAft>
                <a:spcPts val="4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OpenCV variants → EasyOCR → parser (per 100 g / 100 ml) → vote · FSSAI limits → red hexagons · optional expiry date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20676870" y="6080760"/>
            <a:ext cx="0" cy="274320"/>
          </a:xfrm>
          <a:prstGeom prst="line">
            <a:avLst/>
          </a:prstGeom>
          <a:ln w="38100">
            <a:solidFill>
              <a:srgbClr val="041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6560820" y="6355080"/>
            <a:ext cx="14116050" cy="0"/>
          </a:xfrm>
          <a:prstGeom prst="line">
            <a:avLst/>
          </a:prstGeom>
          <a:ln w="38100">
            <a:solidFill>
              <a:srgbClr val="041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6560820" y="6355080"/>
            <a:ext cx="0" cy="27432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0676870" y="6080760"/>
            <a:ext cx="0" cy="274320"/>
          </a:xfrm>
          <a:prstGeom prst="line">
            <a:avLst/>
          </a:prstGeom>
          <a:ln w="38100">
            <a:solidFill>
              <a:srgbClr val="041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17853660" y="6355080"/>
            <a:ext cx="2823210" cy="0"/>
          </a:xfrm>
          <a:prstGeom prst="line">
            <a:avLst/>
          </a:prstGeom>
          <a:ln w="38100">
            <a:solidFill>
              <a:srgbClr val="041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7853660" y="6355080"/>
            <a:ext cx="0" cy="27432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view module: health score 0–100, star rating, food information"/>
          <p:cNvSpPr/>
          <p:nvPr/>
        </p:nvSpPr>
        <p:spPr>
          <a:xfrm>
            <a:off x="1188720" y="9692640"/>
            <a:ext cx="22037040" cy="1097280"/>
          </a:xfrm>
          <a:prstGeom prst="roundRect">
            <a:avLst>
              <a:gd name="adj" fmla="val 8000"/>
            </a:avLst>
          </a:prstGeom>
          <a:solidFill>
            <a:srgbClr val="EFF4DE"/>
          </a:solidFill>
          <a:ln w="25400">
            <a:solidFill>
              <a:srgbClr val="6E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2700" b="1" i="0">
                <a:solidFill>
                  <a:srgbClr val="6E8A12"/>
                </a:solidFill>
                <a:latin typeface="Times New Roman"/>
              </a:rPr>
              <a:t>Review module: health score 0–100, star rating, food information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6560820" y="9235440"/>
            <a:ext cx="0" cy="41148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7853660" y="9235440"/>
            <a:ext cx="0" cy="41148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Verdict"/>
          <p:cNvSpPr/>
          <p:nvPr/>
        </p:nvSpPr>
        <p:spPr>
          <a:xfrm>
            <a:off x="3474720" y="11155680"/>
            <a:ext cx="17465040" cy="1188720"/>
          </a:xfrm>
          <a:prstGeom prst="roundRect">
            <a:avLst>
              <a:gd name="adj" fmla="val 8000"/>
            </a:avLst>
          </a:prstGeom>
          <a:solidFill>
            <a:srgbClr val="1F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One verdict: SAFE · CAUTION · UNSAFE · REJECTED · MISMATCH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Times New Roman"/>
              </a:rPr>
              <a:t>with a plain-language reason, evidence images and every stage's result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2207240" y="10835640"/>
            <a:ext cx="0" cy="27432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Methodology: Produce Spoilage Pipeline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13190001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Step 1"/>
          <p:cNvSpPr/>
          <p:nvPr/>
        </p:nvSpPr>
        <p:spPr>
          <a:xfrm>
            <a:off x="1188720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E2EFF6"/>
          </a:solidFill>
          <a:ln w="25400">
            <a:solidFill>
              <a:srgbClr val="167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6749F"/>
                </a:solidFill>
                <a:latin typeface="Times New Roman"/>
              </a:rPr>
              <a:t>Dataset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Kaggle [21]: 6 produce × fresh / stale, 14,682 images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3951514" y="3657600"/>
            <a:ext cx="41148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Step 2"/>
          <p:cNvSpPr/>
          <p:nvPr/>
        </p:nvSpPr>
        <p:spPr>
          <a:xfrm>
            <a:off x="4408714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 w="25400">
            <a:solidFill>
              <a:srgbClr val="38B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38B28A"/>
                </a:solidFill>
                <a:latin typeface="Times New Roman"/>
              </a:rPr>
              <a:t>Source photos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1,621 original photos recovered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171508" y="3657600"/>
            <a:ext cx="41148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Step 3"/>
          <p:cNvSpPr/>
          <p:nvPr/>
        </p:nvSpPr>
        <p:spPr>
          <a:xfrm>
            <a:off x="7628708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EFF4DE"/>
          </a:solidFill>
          <a:ln w="25400">
            <a:solidFill>
              <a:srgbClr val="92A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92AF27"/>
                </a:solidFill>
                <a:latin typeface="Times New Roman"/>
              </a:rPr>
              <a:t>Group split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train 10,329 · val 2,145 · test 2,208 by photo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0391502" y="3657600"/>
            <a:ext cx="41148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Step 4"/>
          <p:cNvSpPr/>
          <p:nvPr/>
        </p:nvSpPr>
        <p:spPr>
          <a:xfrm>
            <a:off x="10848702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FEEBDD"/>
          </a:solidFill>
          <a:ln w="25400">
            <a:solidFill>
              <a:srgbClr val="F971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9711C"/>
                </a:solidFill>
                <a:latin typeface="Times New Roman"/>
              </a:rPr>
              <a:t>Augment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crop, flips, rotate 20°, mild colour jitter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3611496" y="3657600"/>
            <a:ext cx="41148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Step 5"/>
          <p:cNvSpPr/>
          <p:nvPr/>
        </p:nvSpPr>
        <p:spPr>
          <a:xfrm>
            <a:off x="14068696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E2EFF6"/>
          </a:solidFill>
          <a:ln w="25400">
            <a:solidFill>
              <a:srgbClr val="167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6749F"/>
                </a:solidFill>
                <a:latin typeface="Times New Roman"/>
              </a:rPr>
              <a:t>Phase 1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train head only, 3 epochs, lr 1e-3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6831490" y="3657600"/>
            <a:ext cx="41148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Step 6"/>
          <p:cNvSpPr/>
          <p:nvPr/>
        </p:nvSpPr>
        <p:spPr>
          <a:xfrm>
            <a:off x="17288690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 w="25400">
            <a:solidFill>
              <a:srgbClr val="38B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38B28A"/>
                </a:solidFill>
                <a:latin typeface="Times New Roman"/>
              </a:rPr>
              <a:t>Phase 2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fine-tune all, 12 epochs, lr 3e-4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20051484" y="3657600"/>
            <a:ext cx="41148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Step 7"/>
          <p:cNvSpPr/>
          <p:nvPr/>
        </p:nvSpPr>
        <p:spPr>
          <a:xfrm>
            <a:off x="20508684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EFF4DE"/>
          </a:solidFill>
          <a:ln w="25400">
            <a:solidFill>
              <a:srgbClr val="92A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92AF27"/>
                </a:solidFill>
                <a:latin typeface="Times New Roman"/>
              </a:rPr>
              <a:t>Calibrate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SAFE / UNSAFE at 0.85</a:t>
            </a:r>
          </a:p>
        </p:txBody>
      </p:sp>
      <p:sp>
        <p:nvSpPr>
          <p:cNvPr id="121" name="Equations"/>
          <p:cNvSpPr/>
          <p:nvPr/>
        </p:nvSpPr>
        <p:spPr>
          <a:xfrm>
            <a:off x="1188720" y="5440680"/>
            <a:ext cx="11155680" cy="52120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1554480" y="5669280"/>
            <a:ext cx="10424160" cy="6583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200" b="1" i="0">
                <a:solidFill>
                  <a:srgbClr val="041B31"/>
                </a:solidFill>
                <a:latin typeface="Times New Roman"/>
              </a:rPr>
              <a:t>Mathematical model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800" b="1" i="0">
                <a:solidFill>
                  <a:srgbClr val="1E1E1E"/>
                </a:solidFill>
                <a:latin typeface="Times New Roman"/>
              </a:rPr>
              <a:t>Loss</a:t>
            </a:r>
            <a:r>
              <a:rPr sz="2800" b="0" i="0">
                <a:solidFill>
                  <a:srgbClr val="1E1E1E"/>
                </a:solidFill>
                <a:latin typeface="Times New Roman"/>
              </a:rPr>
              <a:t> (class-weighted, label smoothing ε = 0.05):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800" b="0" i="1">
                <a:solidFill>
                  <a:srgbClr val="1E1E1E"/>
                </a:solidFill>
                <a:latin typeface="Times New Roman"/>
              </a:rPr>
              <a:t>ℒ = − Σ꜀ w꜀ · q꜀ · log p꜀ ,   q = (1 − ε)·y + ε / 12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800" b="1" i="0">
                <a:solidFill>
                  <a:srgbClr val="1E1E1E"/>
                </a:solidFill>
                <a:latin typeface="Times New Roman"/>
              </a:rPr>
              <a:t>Freshness probability</a:t>
            </a:r>
            <a:r>
              <a:rPr sz="2800" b="0" i="0">
                <a:solidFill>
                  <a:srgbClr val="1E1E1E"/>
                </a:solidFill>
                <a:latin typeface="Times New Roman"/>
              </a:rPr>
              <a:t> from the 12-way softmax: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800" b="0" i="1">
                <a:solidFill>
                  <a:srgbClr val="1E1E1E"/>
                </a:solidFill>
                <a:latin typeface="Times New Roman"/>
              </a:rPr>
              <a:t>P(fresh) = Σ p꜀ over the six fresh classes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800" b="1" i="0">
                <a:solidFill>
                  <a:srgbClr val="1E1E1E"/>
                </a:solidFill>
                <a:latin typeface="Times New Roman"/>
              </a:rPr>
              <a:t>Decision rule: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800" b="0" i="1">
                <a:solidFill>
                  <a:srgbClr val="1E1E1E"/>
                </a:solidFill>
                <a:latin typeface="Times New Roman"/>
              </a:rPr>
              <a:t>SAFE if P(fresh) ≥ 0.85;  UNSAFE if P(stale) ≥ 0.85;  else CAUTION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800" b="1" i="0">
                <a:solidFill>
                  <a:srgbClr val="1E1E1E"/>
                </a:solidFill>
                <a:latin typeface="Times New Roman"/>
              </a:rPr>
              <a:t>Grad-CAM</a:t>
            </a:r>
            <a:r>
              <a:rPr sz="2800" b="0" i="0">
                <a:solidFill>
                  <a:srgbClr val="1E1E1E"/>
                </a:solidFill>
                <a:latin typeface="Times New Roman"/>
              </a:rPr>
              <a:t> [12] heat map for class c: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800" b="0" i="1">
                <a:solidFill>
                  <a:srgbClr val="1E1E1E"/>
                </a:solidFill>
                <a:latin typeface="Times New Roman"/>
              </a:rPr>
              <a:t>αₖ = (1/Z) Σᵢⱼ ∂y꜀ / ∂Aᵏᵢⱼ ,   Lc = ReLU( Σₖ αₖ Aᵏ 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893040" y="5532120"/>
            <a:ext cx="10332720" cy="6949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200" b="1" i="0">
                <a:solidFill>
                  <a:srgbClr val="041B31"/>
                </a:solidFill>
                <a:latin typeface="Times New Roman"/>
              </a:rPr>
              <a:t>Training set-up</a:t>
            </a:r>
          </a:p>
          <a:p>
            <a:pPr algn="l" marL="502920" indent="-502920">
              <a:lnSpc>
                <a:spcPct val="100000"/>
              </a:lnSpc>
              <a:spcAft>
                <a:spcPts val="12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MobileNetV2 [4], ImageNet weights, new 12-class head; input 224 × 224.</a:t>
            </a:r>
          </a:p>
          <a:p>
            <a:pPr algn="l" marL="502920" indent="-502920">
              <a:lnSpc>
                <a:spcPct val="100000"/>
              </a:lnSpc>
              <a:spcAft>
                <a:spcPts val="12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AdamW [27] (weight decay 1e-4) with a one-cycle learning-rate schedule [28].</a:t>
            </a:r>
          </a:p>
          <a:p>
            <a:pPr algn="l" marL="502920" indent="-502920">
              <a:lnSpc>
                <a:spcPct val="100000"/>
              </a:lnSpc>
              <a:spcAft>
                <a:spcPts val="12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Batch 64, mixed precision (FP16) on an NVIDIA RTX 5060 Ti, PyTorch 2.11.</a:t>
            </a:r>
          </a:p>
          <a:p>
            <a:pPr algn="l" marL="502920" indent="-502920">
              <a:lnSpc>
                <a:spcPct val="100000"/>
              </a:lnSpc>
              <a:spcAft>
                <a:spcPts val="12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Best epoch chosen by validation macro-F1; test set used once.</a:t>
            </a:r>
          </a:p>
          <a:p>
            <a:pPr algn="l" marL="502920" indent="-502920">
              <a:lnSpc>
                <a:spcPct val="100000"/>
              </a:lnSpc>
              <a:spcAft>
                <a:spcPts val="12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Hue jitter kept small (0.02): colour change is the spoilage signal.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Methodology: Packaged Food Label Pipeline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14566900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Step 1"/>
          <p:cNvSpPr/>
          <p:nvPr/>
        </p:nvSpPr>
        <p:spPr>
          <a:xfrm>
            <a:off x="1188720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E2EFF6"/>
          </a:solidFill>
          <a:ln w="25400">
            <a:solidFill>
              <a:srgbClr val="167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6749F"/>
                </a:solidFill>
                <a:latin typeface="Times New Roman"/>
              </a:rPr>
              <a:t>Label photo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1–3 photos: front, nutrition table, barcode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3951514" y="3657600"/>
            <a:ext cx="41148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Step 2"/>
          <p:cNvSpPr/>
          <p:nvPr/>
        </p:nvSpPr>
        <p:spPr>
          <a:xfrm>
            <a:off x="4408714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 w="25400">
            <a:solidFill>
              <a:srgbClr val="38B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38B28A"/>
                </a:solidFill>
                <a:latin typeface="Times New Roman"/>
              </a:rPr>
              <a:t>Pre-process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colour · CLAHE + glare fill · upscale · binarise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171508" y="3657600"/>
            <a:ext cx="41148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Step 3"/>
          <p:cNvSpPr/>
          <p:nvPr/>
        </p:nvSpPr>
        <p:spPr>
          <a:xfrm>
            <a:off x="7628708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EFF4DE"/>
          </a:solidFill>
          <a:ln w="25400">
            <a:solidFill>
              <a:srgbClr val="92A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92AF27"/>
                </a:solidFill>
                <a:latin typeface="Times New Roman"/>
              </a:rPr>
              <a:t>EasyOCR [22]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CRAFT [15] detection + CRNN [16] recognition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0391502" y="3657600"/>
            <a:ext cx="41148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Step 4"/>
          <p:cNvSpPr/>
          <p:nvPr/>
        </p:nvSpPr>
        <p:spPr>
          <a:xfrm>
            <a:off x="10848702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FEEBDD"/>
          </a:solidFill>
          <a:ln w="25400">
            <a:solidFill>
              <a:srgbClr val="F971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9711C"/>
                </a:solidFill>
                <a:latin typeface="Times New Roman"/>
              </a:rPr>
              <a:t>Parse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group lines; regex + fuzzy match of nutrient names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3611496" y="3657600"/>
            <a:ext cx="41148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Step 5"/>
          <p:cNvSpPr/>
          <p:nvPr/>
        </p:nvSpPr>
        <p:spPr>
          <a:xfrm>
            <a:off x="14068696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E2EFF6"/>
          </a:solidFill>
          <a:ln w="25400">
            <a:solidFill>
              <a:srgbClr val="167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6749F"/>
                </a:solidFill>
                <a:latin typeface="Times New Roman"/>
              </a:rPr>
              <a:t>Normalise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per 100 g / ml; mg → g; sodium = salt ÷ 2.5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6831490" y="3657600"/>
            <a:ext cx="41148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Step 6"/>
          <p:cNvSpPr/>
          <p:nvPr/>
        </p:nvSpPr>
        <p:spPr>
          <a:xfrm>
            <a:off x="17288690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 w="25400">
            <a:solidFill>
              <a:srgbClr val="38B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38B28A"/>
                </a:solidFill>
                <a:latin typeface="Times New Roman"/>
              </a:rPr>
              <a:t>Vote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majority across variants; restore lost decimals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20051484" y="3657600"/>
            <a:ext cx="411480" cy="0"/>
          </a:xfrm>
          <a:prstGeom prst="line">
            <a:avLst/>
          </a:prstGeom>
          <a:ln w="38100">
            <a:solidFill>
              <a:srgbClr val="041B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Step 7"/>
          <p:cNvSpPr/>
          <p:nvPr/>
        </p:nvSpPr>
        <p:spPr>
          <a:xfrm>
            <a:off x="20508684" y="2331720"/>
            <a:ext cx="2717074" cy="2651760"/>
          </a:xfrm>
          <a:prstGeom prst="roundRect">
            <a:avLst>
              <a:gd name="adj" fmla="val 8000"/>
            </a:avLst>
          </a:prstGeom>
          <a:solidFill>
            <a:srgbClr val="EFF4DE"/>
          </a:solidFill>
          <a:ln w="25400">
            <a:solidFill>
              <a:srgbClr val="92A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92AF27"/>
                </a:solidFill>
                <a:latin typeface="Times New Roman"/>
              </a:rPr>
              <a:t>Rule engine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1E1E1E"/>
                </a:solidFill>
                <a:latin typeface="Times New Roman"/>
              </a:rPr>
              <a:t>FSSAI limits, expiry, health score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88720" y="55321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000" b="1" i="0">
                <a:solidFill>
                  <a:srgbClr val="041B31"/>
                </a:solidFill>
                <a:latin typeface="Times New Roman"/>
              </a:rPr>
              <a:t>Limits by category (from safety_thresholds.json)</a:t>
            </a:r>
          </a:p>
        </p:txBody>
      </p:sp>
      <p:graphicFrame>
        <p:nvGraphicFramePr>
          <p:cNvPr id="122" name="FSSAI limits"/>
          <p:cNvGraphicFramePr>
            <a:graphicFrameLocks noGrp="1"/>
          </p:cNvGraphicFramePr>
          <p:nvPr/>
        </p:nvGraphicFramePr>
        <p:xfrm>
          <a:off x="1188720" y="6263640"/>
          <a:ext cx="10607040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2377440"/>
                <a:gridCol w="2377440"/>
                <a:gridCol w="2560320"/>
              </a:tblGrid>
              <a:tr h="7772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700" b="1" i="0">
                          <a:solidFill>
                            <a:srgbClr val="000000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700" b="1" i="0">
                          <a:solidFill>
                            <a:srgbClr val="000000"/>
                          </a:solidFill>
                          <a:latin typeface="Times New Roman"/>
                        </a:rPr>
                        <a:t>Added sugar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700" b="1" i="0">
                          <a:solidFill>
                            <a:srgbClr val="000000"/>
                          </a:solidFill>
                          <a:latin typeface="Times New Roman"/>
                        </a:rPr>
                        <a:t>Saturated fat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700" b="1" i="0">
                          <a:solidFill>
                            <a:srgbClr val="000000"/>
                          </a:solidFill>
                          <a:latin typeface="Times New Roman"/>
                        </a:rPr>
                        <a:t>Sodium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700" b="0" i="0">
                          <a:solidFill>
                            <a:srgbClr val="1E1E1E"/>
                          </a:solidFill>
                          <a:latin typeface="Times New Roman"/>
                        </a:rPr>
                        <a:t>Solid, per 100 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700" b="0" i="0">
                          <a:solidFill>
                            <a:srgbClr val="1E1E1E"/>
                          </a:solidFill>
                          <a:latin typeface="Times New Roman"/>
                        </a:rPr>
                        <a:t>3.0 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700" b="0" i="0">
                          <a:solidFill>
                            <a:srgbClr val="1E1E1E"/>
                          </a:solidFill>
                          <a:latin typeface="Times New Roman"/>
                        </a:rPr>
                        <a:t>4.2 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7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0.625 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700" b="0" i="0">
                          <a:solidFill>
                            <a:srgbClr val="1E1E1E"/>
                          </a:solidFill>
                          <a:latin typeface="Times New Roman"/>
                        </a:rPr>
                        <a:t>Liquid, per 100 ml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700" b="0" i="0">
                          <a:solidFill>
                            <a:srgbClr val="1E1E1E"/>
                          </a:solidFill>
                          <a:latin typeface="Times New Roman"/>
                        </a:rPr>
                        <a:t>1.5 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700" b="0" i="0">
                          <a:solidFill>
                            <a:srgbClr val="1E1E1E"/>
                          </a:solidFill>
                          <a:latin typeface="Times New Roman"/>
                        </a:rPr>
                        <a:t>2.1 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7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0.300 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700" b="0" i="0">
                          <a:solidFill>
                            <a:srgbClr val="1E1E1E"/>
                          </a:solidFill>
                          <a:latin typeface="Times New Roman"/>
                        </a:rPr>
                        <a:t>Exempt (oil, ghee, honey…)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700" b="0" i="0">
                          <a:solidFill>
                            <a:srgbClr val="1E1E1E"/>
                          </a:solidFill>
                          <a:latin typeface="Times New Roman"/>
                        </a:rPr>
                        <a:t>not checked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700" b="0" i="0">
                          <a:solidFill>
                            <a:srgbClr val="1E1E1E"/>
                          </a:solidFill>
                          <a:latin typeface="Times New Roman"/>
                        </a:rPr>
                        <a:t>not checked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700" b="0" i="0">
                          <a:solidFill>
                            <a:srgbClr val="1E1E1E"/>
                          </a:solidFill>
                          <a:latin typeface="Times New Roman"/>
                        </a:rPr>
                        <a:t>not checked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3" name="TextBox 122"/>
          <p:cNvSpPr txBox="1"/>
          <p:nvPr/>
        </p:nvSpPr>
        <p:spPr>
          <a:xfrm>
            <a:off x="1188720" y="955548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1">
                <a:solidFill>
                  <a:srgbClr val="555555"/>
                </a:solidFill>
                <a:latin typeface="Times New Roman"/>
              </a:rPr>
              <a:t>Values sit in a configuration file, so they can be updated to the final notified FSSAI figures [23], [24] without code changes. They are still to be verified against the official notification.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527280" y="5532120"/>
            <a:ext cx="10698480" cy="6949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3200" b="1" i="0">
                <a:solidFill>
                  <a:srgbClr val="041B31"/>
                </a:solidFill>
                <a:latin typeface="Times New Roman"/>
              </a:rPr>
              <a:t>Verdict logic (in order)</a:t>
            </a:r>
          </a:p>
          <a:p>
            <a:pPr algn="l" marL="502920" indent="-502920">
              <a:lnSpc>
                <a:spcPct val="100000"/>
              </a:lnSpc>
              <a:spcAft>
                <a:spcPts val="12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Expiry date entered and passed → </a:t>
            </a:r>
            <a:r>
              <a:rPr sz="2800" b="1" i="0">
                <a:solidFill>
                  <a:srgbClr val="1E1E1E"/>
                </a:solidFill>
                <a:latin typeface="Times New Roman"/>
              </a:rPr>
              <a:t>UNSAFE</a:t>
            </a:r>
            <a:r>
              <a:rPr sz="2800" b="0" i="0">
                <a:solidFill>
                  <a:srgbClr val="1E1E1E"/>
                </a:solidFill>
                <a:latin typeface="Times New Roman"/>
              </a:rPr>
              <a:t>.</a:t>
            </a:r>
          </a:p>
          <a:p>
            <a:pPr algn="l" marL="502920" indent="-502920">
              <a:lnSpc>
                <a:spcPct val="100000"/>
              </a:lnSpc>
              <a:spcAft>
                <a:spcPts val="12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Any nutrient above its limit → </a:t>
            </a:r>
            <a:r>
              <a:rPr sz="2800" b="1" i="0">
                <a:solidFill>
                  <a:srgbClr val="1E1E1E"/>
                </a:solidFill>
                <a:latin typeface="Times New Roman"/>
              </a:rPr>
              <a:t>UNSAFE</a:t>
            </a:r>
            <a:r>
              <a:rPr sz="2800" b="0" i="0">
                <a:solidFill>
                  <a:srgbClr val="1E1E1E"/>
                </a:solidFill>
                <a:latin typeface="Times New Roman"/>
              </a:rPr>
              <a:t> with red hexagon warnings.</a:t>
            </a:r>
          </a:p>
          <a:p>
            <a:pPr algn="l" marL="502920" indent="-502920">
              <a:lnSpc>
                <a:spcPct val="100000"/>
              </a:lnSpc>
              <a:spcAft>
                <a:spcPts val="12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A required value could not be read → </a:t>
            </a:r>
            <a:r>
              <a:rPr sz="2800" b="1" i="0">
                <a:solidFill>
                  <a:srgbClr val="1E1E1E"/>
                </a:solidFill>
                <a:latin typeface="Times New Roman"/>
              </a:rPr>
              <a:t>CAUTION</a:t>
            </a:r>
            <a:r>
              <a:rPr sz="2800" b="0" i="0">
                <a:solidFill>
                  <a:srgbClr val="1E1E1E"/>
                </a:solidFill>
                <a:latin typeface="Times New Roman"/>
              </a:rPr>
              <a:t>.</a:t>
            </a:r>
          </a:p>
          <a:p>
            <a:pPr algn="l" marL="502920" indent="-502920">
              <a:lnSpc>
                <a:spcPct val="100000"/>
              </a:lnSpc>
              <a:spcAft>
                <a:spcPts val="12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Exempt single-ingredient food → limits not applied.</a:t>
            </a:r>
          </a:p>
          <a:p>
            <a:pPr algn="l" marL="502920" indent="-502920">
              <a:lnSpc>
                <a:spcPct val="100000"/>
              </a:lnSpc>
              <a:spcAft>
                <a:spcPts val="12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2800" b="0" i="0">
                <a:solidFill>
                  <a:srgbClr val="1E1E1E"/>
                </a:solidFill>
                <a:latin typeface="Times New Roman"/>
              </a:rPr>
              <a:t>Otherwise → </a:t>
            </a:r>
            <a:r>
              <a:rPr sz="2800" b="1" i="0">
                <a:solidFill>
                  <a:srgbClr val="1E1E1E"/>
                </a:solidFill>
                <a:latin typeface="Times New Roman"/>
              </a:rPr>
              <a:t>SAFE</a:t>
            </a:r>
            <a:r>
              <a:rPr sz="2800" b="0" i="0">
                <a:solidFill>
                  <a:srgbClr val="1E1E1E"/>
                </a:solidFill>
                <a:latin typeface="Times New Roman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E1E1E"/>
                </a:solidFill>
                <a:latin typeface="Times New Roman"/>
              </a:rPr>
              <a:t>Health score:</a:t>
            </a:r>
            <a:r>
              <a:rPr sz="2800" b="0" i="0">
                <a:solidFill>
                  <a:srgbClr val="1E1E1E"/>
                </a:solidFill>
                <a:latin typeface="Times New Roman"/>
              </a:rPr>
              <a:t> starts at 100 and loses points as each nutrient nears its limit; any limit exceeded caps it at 45 and an expired pack scores 0, so the score always agrees with the verdict.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Methodology: Guardrails and Identity Check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14780260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CLIP equation"/>
          <p:cNvSpPr/>
          <p:nvPr/>
        </p:nvSpPr>
        <p:spPr>
          <a:xfrm>
            <a:off x="1188720" y="2331720"/>
            <a:ext cx="22037040" cy="2103120"/>
          </a:xfrm>
          <a:prstGeom prst="roundRect">
            <a:avLst>
              <a:gd name="adj" fmla="val 8000"/>
            </a:avLst>
          </a:prstGeom>
          <a:solidFill>
            <a:srgbClr val="E2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1554480" y="2331720"/>
            <a:ext cx="21305520" cy="21031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900" b="1" i="0">
                <a:solidFill>
                  <a:srgbClr val="1E1E1E"/>
                </a:solidFill>
                <a:latin typeface="Times New Roman"/>
              </a:rPr>
              <a:t>CLIP zero-shot scoring [19]:</a:t>
            </a:r>
            <a:r>
              <a:rPr sz="2900" b="0" i="0">
                <a:solidFill>
                  <a:srgbClr val="1E1E1E"/>
                </a:solidFill>
                <a:latin typeface="Times New Roman"/>
              </a:rPr>
              <a:t> the photo is compared with 43 text prompts (produce, packaged food, drinks, cooked dishes, non-food scenes).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900" b="0" i="1">
                <a:solidFill>
                  <a:srgbClr val="1E1E1E"/>
                </a:solidFill>
                <a:latin typeface="Times New Roman"/>
              </a:rPr>
              <a:t>pᵢ = exp(s · cos(f_image, f_promptᵢ)) / Σⱼ exp(s · cos(f_image, f_promptⱼ)),   P(food) = Σ pᵢ over food prompts</a:t>
            </a:r>
          </a:p>
        </p:txBody>
      </p:sp>
      <p:graphicFrame>
        <p:nvGraphicFramePr>
          <p:cNvPr id="110" name="Guardrail rules"/>
          <p:cNvGraphicFramePr>
            <a:graphicFrameLocks noGrp="1"/>
          </p:cNvGraphicFramePr>
          <p:nvPr/>
        </p:nvGraphicFramePr>
        <p:xfrm>
          <a:off x="1188720" y="4892040"/>
          <a:ext cx="22037040" cy="6355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0"/>
                <a:gridCol w="9509760"/>
                <a:gridCol w="8686800"/>
              </a:tblGrid>
              <a:tr h="7772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600" b="1" i="0">
                          <a:solidFill>
                            <a:srgbClr val="000000"/>
                          </a:solidFill>
                          <a:latin typeface="Times New Roman"/>
                        </a:rPr>
                        <a:t>Check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600" b="1" i="0">
                          <a:solidFill>
                            <a:srgbClr val="000000"/>
                          </a:solidFill>
                          <a:latin typeface="Times New Roman"/>
                        </a:rPr>
                        <a:t>Rule (threshold)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600" b="1" i="0">
                          <a:solidFill>
                            <a:srgbClr val="000000"/>
                          </a:solidFill>
                          <a:latin typeface="Times New Roman"/>
                        </a:rPr>
                        <a:t>Outcome if it fails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Is it food?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P(food) ≥ 0.40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REJECTED: not food or a cooked dish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Right category?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raw vs packaged margin 0.30; solid vs liquid from the printed basis (per 100 g / 100 ml)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MISMATCH, with the suggested category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Supported produce?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P(one of the 6 supported types) ≥ 0.10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REJECTED: unsupported produce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Readable label?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≥ 6 text boxes and ≥ 2 nutrition keywords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REJECTED: retake the photo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20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Same product?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name match ≥ 70 (RapidFuzz); barcode via Open Food Facts [25]; nutrients differ from the reference if |Δ| &gt; tolerance and &gt; 35 %; mismatch when ≥ 3 nutrients and ≥ 60 % of those compared differ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MISMATCH: label belongs to a different product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&amp; Testing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5121870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Modules"/>
          <p:cNvGraphicFramePr>
            <a:graphicFrameLocks noGrp="1"/>
          </p:cNvGraphicFramePr>
          <p:nvPr/>
        </p:nvGraphicFramePr>
        <p:xfrm>
          <a:off x="1188720" y="2331720"/>
          <a:ext cx="11795760" cy="7863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31920"/>
                <a:gridCol w="7863840"/>
              </a:tblGrid>
              <a:tr h="786384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500" b="1" i="0">
                          <a:solidFill>
                            <a:srgbClr val="000000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500" b="1" i="0">
                          <a:solidFill>
                            <a:srgbClr val="000000"/>
                          </a:solidFill>
                          <a:latin typeface="Times New Roman"/>
                        </a:rPr>
                        <a:t>Responsibility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app.py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Flask server: web page, /api/analyze, /api/health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pipeline.py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Runs the stages in order and builds the report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guardrails.py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CLIP scene and produce checks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vision.py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MobileNetV2 spoilage model, Grad-CAM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ocr_engine.py, label_parser.py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Pre-processing, EasyOCR, nutrient parsing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fssai_engine.py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Limits, expiry check, exempt suggestions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identity.py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Barcode, Open Food Facts, brand registry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review.py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Health score, rating, food information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static/, templates/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Web page: light / dark themes, progress animation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" name="TextBox 108"/>
          <p:cNvSpPr txBox="1"/>
          <p:nvPr/>
        </p:nvSpPr>
        <p:spPr>
          <a:xfrm>
            <a:off x="13533120" y="233172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400" b="1" i="0">
                <a:solidFill>
                  <a:srgbClr val="041B31"/>
                </a:solidFill>
                <a:latin typeface="Times New Roman"/>
              </a:rPr>
              <a:t>Testing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3533120" y="3154680"/>
            <a:ext cx="9692640" cy="164592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3807440" y="3154680"/>
            <a:ext cx="2743200" cy="1645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5400" b="1" i="0">
                <a:solidFill>
                  <a:srgbClr val="38B28A"/>
                </a:solidFill>
                <a:latin typeface="Times New Roman"/>
              </a:rPr>
              <a:t>49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642080" y="3154680"/>
            <a:ext cx="6400800" cy="1645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700" b="0" i="0">
                <a:solidFill>
                  <a:srgbClr val="1E1E1E"/>
                </a:solidFill>
                <a:latin typeface="Times New Roman"/>
              </a:rPr>
              <a:t>unit tests (pytest), all passing: label parser, FSSAI rules, identity, review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3533120" y="5029199"/>
            <a:ext cx="9692640" cy="1645920"/>
          </a:xfrm>
          <a:prstGeom prst="roundRect">
            <a:avLst>
              <a:gd name="adj" fmla="val 8000"/>
            </a:avLst>
          </a:prstGeom>
          <a:solidFill>
            <a:srgbClr val="E2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3807440" y="5029199"/>
            <a:ext cx="2743200" cy="1645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5400" b="1" i="0">
                <a:solidFill>
                  <a:srgbClr val="16749F"/>
                </a:solidFill>
                <a:latin typeface="Times New Roman"/>
              </a:rPr>
              <a:t>6 / 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6642080" y="5029199"/>
            <a:ext cx="6400800" cy="1645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700" b="0" i="0">
                <a:solidFill>
                  <a:srgbClr val="1E1E1E"/>
                </a:solidFill>
                <a:latin typeface="Times New Roman"/>
              </a:rPr>
              <a:t>synthetic labels read with every field correct; verdicts match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3533120" y="6903718"/>
            <a:ext cx="9692640" cy="1645920"/>
          </a:xfrm>
          <a:prstGeom prst="roundRect">
            <a:avLst>
              <a:gd name="adj" fmla="val 8000"/>
            </a:avLst>
          </a:prstGeom>
          <a:solidFill>
            <a:srgbClr val="E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3807440" y="6903718"/>
            <a:ext cx="2743200" cy="1645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5400" b="1" i="0">
                <a:solidFill>
                  <a:srgbClr val="6E8A12"/>
                </a:solidFill>
                <a:latin typeface="Times New Roman"/>
              </a:rPr>
              <a:t>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6642080" y="6903718"/>
            <a:ext cx="6400800" cy="1645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700" b="0" i="0">
                <a:solidFill>
                  <a:srgbClr val="1E1E1E"/>
                </a:solidFill>
                <a:latin typeface="Times New Roman"/>
              </a:rPr>
              <a:t>verdict screens rendered and checked in a headless browser test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3533120" y="8778237"/>
            <a:ext cx="9692640" cy="1645920"/>
          </a:xfrm>
          <a:prstGeom prst="roundRect">
            <a:avLst>
              <a:gd name="adj" fmla="val 8000"/>
            </a:avLst>
          </a:prstGeom>
          <a:solidFill>
            <a:srgbClr val="FE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3807440" y="8778237"/>
            <a:ext cx="2743200" cy="1645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5400" b="1" i="0">
                <a:solidFill>
                  <a:srgbClr val="F9711C"/>
                </a:solidFill>
                <a:latin typeface="Times New Roman"/>
              </a:rPr>
              <a:t>2,208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6642080" y="8778237"/>
            <a:ext cx="6400800" cy="1645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700" b="0" i="0">
                <a:solidFill>
                  <a:srgbClr val="1E1E1E"/>
                </a:solidFill>
                <a:latin typeface="Times New Roman"/>
              </a:rPr>
              <a:t>held-out test images for the spoilage model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3533120" y="1074420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555555"/>
                </a:solidFill>
                <a:latin typeface="Times New Roman"/>
              </a:rPr>
              <a:t>About 2,650 lines of Python, 310 lines of tests and 910 lines of HTML, CSS and JavaScript.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Results: Dataset and Set-up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13635990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Chart 107"/>
          <p:cNvGraphicFramePr>
            <a:graphicFrameLocks noGrp="1"/>
          </p:cNvGraphicFramePr>
          <p:nvPr/>
        </p:nvGraphicFramePr>
        <p:xfrm>
          <a:off x="1188720" y="2240280"/>
          <a:ext cx="13533120" cy="1005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9" name="Set-up"/>
          <p:cNvGraphicFramePr>
            <a:graphicFrameLocks noGrp="1"/>
          </p:cNvGraphicFramePr>
          <p:nvPr/>
        </p:nvGraphicFramePr>
        <p:xfrm>
          <a:off x="15270480" y="2514600"/>
          <a:ext cx="7955280" cy="6995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0"/>
                <a:gridCol w="4114800"/>
              </a:tblGrid>
              <a:tr h="7772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500" b="1" i="0">
                          <a:solidFill>
                            <a:srgbClr val="000000"/>
                          </a:solidFill>
                          <a:latin typeface="Times New Roman"/>
                        </a:rPr>
                        <a:t>Item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500" b="1" i="0">
                          <a:solidFill>
                            <a:srgbClr val="000000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Source photos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1,621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Total images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14,682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Train / val / test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10,329 / 2,145 / 2,208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Classes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12 (6 types × fresh / stale)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Input size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224 × 224 RGB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Hardware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RTX 5060 Ti, CUDA 12.8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Framework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PyTorch 2.11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Training time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500" b="0" i="0">
                          <a:solidFill>
                            <a:srgbClr val="1E1E1E"/>
                          </a:solidFill>
                          <a:latin typeface="Times New Roman"/>
                        </a:rPr>
                        <a:t>≈ 3.6 minutes (15 epochs)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0" name="TextBox 109"/>
          <p:cNvSpPr txBox="1"/>
          <p:nvPr/>
        </p:nvSpPr>
        <p:spPr>
          <a:xfrm>
            <a:off x="15270480" y="9829800"/>
            <a:ext cx="7955279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555555"/>
                </a:solidFill>
                <a:latin typeface="Times New Roman"/>
              </a:rPr>
              <a:t>Bitter gourd and capsicum have few source photos (8–32 per class), so their test results rest on fewer independent pictures.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Results: Training and Ablation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14779763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Chart 107"/>
          <p:cNvGraphicFramePr>
            <a:graphicFrameLocks noGrp="1"/>
          </p:cNvGraphicFramePr>
          <p:nvPr/>
        </p:nvGraphicFramePr>
        <p:xfrm>
          <a:off x="1188720" y="2240280"/>
          <a:ext cx="13898880" cy="1005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9" name="TextBox 108"/>
          <p:cNvSpPr txBox="1"/>
          <p:nvPr/>
        </p:nvSpPr>
        <p:spPr>
          <a:xfrm>
            <a:off x="15636240" y="242316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000" b="1" i="0">
                <a:solidFill>
                  <a:srgbClr val="041B31"/>
                </a:solidFill>
                <a:latin typeface="Times New Roman"/>
              </a:rPr>
              <a:t>Ablation: freezing vs fine-tuning</a:t>
            </a:r>
          </a:p>
        </p:txBody>
      </p:sp>
      <p:graphicFrame>
        <p:nvGraphicFramePr>
          <p:cNvPr id="110" name="Ablation table"/>
          <p:cNvGraphicFramePr>
            <a:graphicFrameLocks noGrp="1"/>
          </p:cNvGraphicFramePr>
          <p:nvPr/>
        </p:nvGraphicFramePr>
        <p:xfrm>
          <a:off x="15636240" y="3154680"/>
          <a:ext cx="758952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14800"/>
                <a:gridCol w="3474720"/>
              </a:tblGrid>
              <a:tr h="9144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600" b="1" i="0">
                          <a:solidFill>
                            <a:srgbClr val="000000"/>
                          </a:solidFill>
                          <a:latin typeface="Times New Roman"/>
                        </a:rPr>
                        <a:t>Variant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600" b="1" i="0">
                          <a:solidFill>
                            <a:srgbClr val="000000"/>
                          </a:solidFill>
                          <a:latin typeface="Times New Roman"/>
                        </a:rPr>
                        <a:t>Best val. macro-F1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Head only (backbone frozen)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0.9508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Full fine-tune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6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0.9726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1" name="TextBox 110"/>
          <p:cNvSpPr txBox="1"/>
          <p:nvPr/>
        </p:nvSpPr>
        <p:spPr>
          <a:xfrm>
            <a:off x="15636240" y="6263640"/>
            <a:ext cx="7589520" cy="5943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502920" indent="-502920">
              <a:lnSpc>
                <a:spcPct val="100000"/>
              </a:lnSpc>
              <a:spcAft>
                <a:spcPts val="12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2700" b="0" i="0">
                <a:solidFill>
                  <a:srgbClr val="1E1E1E"/>
                </a:solidFill>
                <a:latin typeface="Times New Roman"/>
              </a:rPr>
              <a:t>Fine-tuning every layer raised validation macro-F1 by 2.2 points.</a:t>
            </a:r>
          </a:p>
          <a:p>
            <a:pPr algn="l" marL="502920" indent="-502920">
              <a:lnSpc>
                <a:spcPct val="100000"/>
              </a:lnSpc>
              <a:spcAft>
                <a:spcPts val="12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2700" b="0" i="0">
                <a:solidFill>
                  <a:srgbClr val="1E1E1E"/>
                </a:solidFill>
                <a:latin typeface="Times New Roman"/>
              </a:rPr>
              <a:t>Best epoch: fine-tune epoch 3; later epochs fit the training set (≈ 100 %) without improving validation, so the epoch-3 weights are kept.</a:t>
            </a:r>
          </a:p>
          <a:p>
            <a:pPr algn="l" marL="502920" indent="-502920">
              <a:lnSpc>
                <a:spcPct val="100000"/>
              </a:lnSpc>
              <a:spcAft>
                <a:spcPts val="1200"/>
              </a:spcAft>
              <a:buClr>
                <a:srgbClr val="041B31"/>
              </a:buClr>
              <a:buFont typeface="Wingdings" pitchFamily="2" charset="2"/>
              <a:buChar char="Ø"/>
            </a:pPr>
            <a:r>
              <a:rPr sz="2700" b="0" i="0">
                <a:solidFill>
                  <a:srgbClr val="1E1E1E"/>
                </a:solidFill>
                <a:latin typeface="Times New Roman"/>
              </a:rPr>
              <a:t>Validation loss stayed flat after epoch 3: no runaway over-fitting.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Results: Test-Set Performance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14538920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TextBox 107"/>
          <p:cNvSpPr txBox="1"/>
          <p:nvPr/>
        </p:nvSpPr>
        <p:spPr>
          <a:xfrm>
            <a:off x="1188720" y="2240280"/>
            <a:ext cx="512064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6400" b="1" i="0">
                <a:solidFill>
                  <a:srgbClr val="38B28A"/>
                </a:solidFill>
                <a:latin typeface="Times New Roman"/>
              </a:rPr>
              <a:t>97.19 %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88720" y="33375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700" b="0" i="0">
                <a:solidFill>
                  <a:srgbClr val="555555"/>
                </a:solidFill>
                <a:latin typeface="Times New Roman"/>
              </a:rPr>
              <a:t>12-class accuracy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88720" y="4069080"/>
            <a:ext cx="512064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6400" b="1" i="0">
                <a:solidFill>
                  <a:srgbClr val="16749F"/>
                </a:solidFill>
                <a:latin typeface="Times New Roman"/>
              </a:rPr>
              <a:t>97.06 %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88720" y="51663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700" b="0" i="0">
                <a:solidFill>
                  <a:srgbClr val="555555"/>
                </a:solidFill>
                <a:latin typeface="Times New Roman"/>
              </a:rPr>
              <a:t>fresh vs stale accuracy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88720" y="5897880"/>
            <a:ext cx="512064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6400" b="1" i="0">
                <a:solidFill>
                  <a:srgbClr val="6E8A12"/>
                </a:solidFill>
                <a:latin typeface="Times New Roman"/>
              </a:rPr>
              <a:t>0.967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88720" y="69951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700" b="0" i="0">
                <a:solidFill>
                  <a:srgbClr val="555555"/>
                </a:solidFill>
                <a:latin typeface="Times New Roman"/>
              </a:rPr>
              <a:t>macro-F1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88720" y="800100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600" b="0" i="0">
                <a:solidFill>
                  <a:srgbClr val="1E1E1E"/>
                </a:solidFill>
                <a:latin typeface="Times New Roman"/>
              </a:rPr>
              <a:t>2,208 test images, 12 classes.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600" b="0" i="0">
                <a:solidFill>
                  <a:srgbClr val="1E1E1E"/>
                </a:solidFill>
                <a:latin typeface="Times New Roman"/>
              </a:rPr>
              <a:t>Lowest recall: fresh tomato 0.78 (read as stale) and stale capsicum 0.87 (read as fresh).</a:t>
            </a:r>
          </a:p>
        </p:txBody>
      </p:sp>
      <p:graphicFrame>
        <p:nvGraphicFramePr>
          <p:cNvPr id="115" name="Chart 114"/>
          <p:cNvGraphicFramePr>
            <a:graphicFrameLocks noGrp="1"/>
          </p:cNvGraphicFramePr>
          <p:nvPr/>
        </p:nvGraphicFramePr>
        <p:xfrm>
          <a:off x="6492240" y="2240280"/>
          <a:ext cx="7680960" cy="1005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6" name="Confusion matrix"/>
          <p:cNvGraphicFramePr>
            <a:graphicFrameLocks noGrp="1"/>
          </p:cNvGraphicFramePr>
          <p:nvPr/>
        </p:nvGraphicFramePr>
        <p:xfrm>
          <a:off x="14447520" y="2880360"/>
          <a:ext cx="8778240" cy="78455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617220"/>
                <a:gridCol w="617220"/>
                <a:gridCol w="617220"/>
                <a:gridCol w="617220"/>
                <a:gridCol w="617220"/>
                <a:gridCol w="617220"/>
                <a:gridCol w="617220"/>
                <a:gridCol w="617220"/>
                <a:gridCol w="617220"/>
                <a:gridCol w="617220"/>
                <a:gridCol w="617220"/>
                <a:gridCol w="617220"/>
              </a:tblGrid>
              <a:tr h="603504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True \ Pred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F ap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F ba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F bg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F ca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F or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F to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S ap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S ba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S bg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S ca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S or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S to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F ap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254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F ba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232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1E1E1E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AD3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F bg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40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F ca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153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F or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217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1E1E1E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AD3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F to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96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1E1E1E"/>
                          </a:solidFill>
                          <a:latin typeface="Times New Roman"/>
                        </a:rPr>
                        <a:t>27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AD3C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S ap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1E1E1E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AD3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348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S ba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220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S bg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S ca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1E1E1E"/>
                          </a:solidFill>
                          <a:latin typeface="Times New Roman"/>
                        </a:rPr>
                        <a:t>22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AD3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142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S or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1E1E1E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AD3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239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D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S to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0" i="0">
                          <a:solidFill>
                            <a:srgbClr val="A6A6A6"/>
                          </a:solidFill>
                          <a:latin typeface="Times New Roman"/>
                        </a:rPr>
                        <a:t>·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100" b="1" i="0">
                          <a:solidFill>
                            <a:srgbClr val="1E1E1E"/>
                          </a:solidFill>
                          <a:latin typeface="Times New Roman"/>
                        </a:rPr>
                        <a:t>163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DEBDF"/>
                    </a:solidFill>
                  </a:tcPr>
                </a:tc>
              </a:tr>
            </a:tbl>
          </a:graphicData>
        </a:graphic>
      </p:graphicFrame>
      <p:sp>
        <p:nvSpPr>
          <p:cNvPr id="117" name="TextBox 116"/>
          <p:cNvSpPr txBox="1"/>
          <p:nvPr/>
        </p:nvSpPr>
        <p:spPr>
          <a:xfrm>
            <a:off x="14447520" y="2240280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600" b="1" i="0">
                <a:solidFill>
                  <a:srgbClr val="041B31"/>
                </a:solidFill>
                <a:latin typeface="Times New Roman"/>
              </a:rPr>
              <a:t>Confusion matrix (test set)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4447520" y="1092708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200" b="0" i="0">
                <a:solidFill>
                  <a:srgbClr val="555555"/>
                </a:solidFill>
                <a:latin typeface="Times New Roman"/>
              </a:rPr>
              <a:t>F = fresh, S = stale; ap apple, ba banana, bg bitter gourd, ca capsicum, or orange, to tomato. Green: correct; orange: errors.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Results: Safety Rule and Label Reading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17572990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Chart 107"/>
          <p:cNvGraphicFramePr>
            <a:graphicFrameLocks noGrp="1"/>
          </p:cNvGraphicFramePr>
          <p:nvPr/>
        </p:nvGraphicFramePr>
        <p:xfrm>
          <a:off x="1188720" y="2240280"/>
          <a:ext cx="6949440" cy="6583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9" name="TextBox 108"/>
          <p:cNvSpPr txBox="1"/>
          <p:nvPr/>
        </p:nvSpPr>
        <p:spPr>
          <a:xfrm>
            <a:off x="1188720" y="9006840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800" b="1" i="0">
                <a:solidFill>
                  <a:srgbClr val="041B31"/>
                </a:solidFill>
                <a:latin typeface="Times New Roman"/>
              </a:rPr>
              <a:t>Ablation: decision rule</a:t>
            </a:r>
          </a:p>
        </p:txBody>
      </p:sp>
      <p:graphicFrame>
        <p:nvGraphicFramePr>
          <p:cNvPr id="110" name="Rule ablation"/>
          <p:cNvGraphicFramePr>
            <a:graphicFrameLocks noGrp="1"/>
          </p:cNvGraphicFramePr>
          <p:nvPr/>
        </p:nvGraphicFramePr>
        <p:xfrm>
          <a:off x="1188720" y="9646920"/>
          <a:ext cx="6949440" cy="23317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1920240"/>
                <a:gridCol w="1920240"/>
              </a:tblGrid>
              <a:tr h="7772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Rule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1" i="0">
                          <a:solidFill>
                            <a:srgbClr val="000000"/>
                          </a:solidFill>
                          <a:latin typeface="Times New Roman"/>
                        </a:rPr>
                        <a:t>Coverage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400" b="0" i="0">
                          <a:solidFill>
                            <a:srgbClr val="1E1E1E"/>
                          </a:solidFill>
                          <a:latin typeface="Times New Roman"/>
                        </a:rPr>
                        <a:t>P(fresh) ≥ 0.5 (no CAUTION)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0" i="0">
                          <a:solidFill>
                            <a:srgbClr val="1E1E1E"/>
                          </a:solidFill>
                          <a:latin typeface="Times New Roman"/>
                        </a:rPr>
                        <a:t>97.06 %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0" i="0">
                          <a:solidFill>
                            <a:srgbClr val="1E1E1E"/>
                          </a:solidFill>
                          <a:latin typeface="Times New Roman"/>
                        </a:rPr>
                        <a:t>100 %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400" b="0" i="0">
                          <a:solidFill>
                            <a:srgbClr val="1E1E1E"/>
                          </a:solidFill>
                          <a:latin typeface="Times New Roman"/>
                        </a:rPr>
                        <a:t>Threshold 0.85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0" i="0">
                          <a:solidFill>
                            <a:srgbClr val="1E1E1E"/>
                          </a:solidFill>
                          <a:latin typeface="Times New Roman"/>
                        </a:rPr>
                        <a:t>99.35 %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400" b="0" i="0">
                          <a:solidFill>
                            <a:srgbClr val="1E1E1E"/>
                          </a:solidFill>
                          <a:latin typeface="Times New Roman"/>
                        </a:rPr>
                        <a:t>89.9 %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1" name="Rounded Rectangle 110"/>
          <p:cNvSpPr/>
          <p:nvPr/>
        </p:nvSpPr>
        <p:spPr>
          <a:xfrm>
            <a:off x="8778240" y="2423160"/>
            <a:ext cx="6035040" cy="182880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9052560" y="251460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5400" b="1" i="0">
                <a:solidFill>
                  <a:srgbClr val="2E8B57"/>
                </a:solidFill>
                <a:latin typeface="Times New Roman"/>
              </a:rPr>
              <a:t>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052560" y="347472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stale items marked SAFE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778240" y="4480560"/>
            <a:ext cx="6035040" cy="1828800"/>
          </a:xfrm>
          <a:prstGeom prst="roundRect">
            <a:avLst>
              <a:gd name="adj" fmla="val 8000"/>
            </a:avLst>
          </a:prstGeom>
          <a:solidFill>
            <a:srgbClr val="FE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9052560" y="457200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5400" b="1" i="0">
                <a:solidFill>
                  <a:srgbClr val="F9711C"/>
                </a:solidFill>
                <a:latin typeface="Times New Roman"/>
              </a:rPr>
              <a:t>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52560" y="553212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fresh items marked UNSAFE (the cautious error)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78240" y="6537960"/>
            <a:ext cx="6035040" cy="1828800"/>
          </a:xfrm>
          <a:prstGeom prst="roundRect">
            <a:avLst>
              <a:gd name="adj" fmla="val 8000"/>
            </a:avLst>
          </a:prstGeom>
          <a:solidFill>
            <a:srgbClr val="E2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9052560" y="662940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5400" b="1" i="0">
                <a:solidFill>
                  <a:srgbClr val="16749F"/>
                </a:solidFill>
                <a:latin typeface="Times New Roman"/>
              </a:rPr>
              <a:t>10.1 %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052560" y="758952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answered CAUTION (eat with care)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361920" y="2331720"/>
            <a:ext cx="78638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800" b="1" i="0">
                <a:solidFill>
                  <a:srgbClr val="041B31"/>
                </a:solidFill>
                <a:latin typeface="Times New Roman"/>
              </a:rPr>
              <a:t>Label reading (OCR) benchmark</a:t>
            </a:r>
          </a:p>
        </p:txBody>
      </p:sp>
      <p:graphicFrame>
        <p:nvGraphicFramePr>
          <p:cNvPr id="121" name="OCR benchmark"/>
          <p:cNvGraphicFramePr>
            <a:graphicFrameLocks noGrp="1"/>
          </p:cNvGraphicFramePr>
          <p:nvPr/>
        </p:nvGraphicFramePr>
        <p:xfrm>
          <a:off x="15361920" y="3063240"/>
          <a:ext cx="7863840" cy="5120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1554480"/>
                <a:gridCol w="2103120"/>
              </a:tblGrid>
              <a:tr h="7315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000000"/>
                          </a:solidFill>
                          <a:latin typeface="Times New Roman"/>
                        </a:rPr>
                        <a:t>Label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000000"/>
                          </a:solidFill>
                          <a:latin typeface="Times New Roman"/>
                        </a:rPr>
                        <a:t>Fields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1" i="0">
                          <a:solidFill>
                            <a:srgbClr val="000000"/>
                          </a:solidFill>
                          <a:latin typeface="Times New Roman"/>
                        </a:rPr>
                        <a:t>Verdict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crunchy masala chips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4 / 4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UNSAFE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oat digestive biscuits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4 / 4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SAFE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mango fruit drink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4 / 4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UNSAFE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lightly salted makhana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4 / 4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SAFE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unsweetened soy milk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4 / 4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SAFE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classic cream wafers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4 / 4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2300" b="0" i="0">
                          <a:solidFill>
                            <a:srgbClr val="1E1E1E"/>
                          </a:solidFill>
                          <a:latin typeface="Times New Roman"/>
                        </a:rPr>
                        <a:t>UNSAFE</a:t>
                      </a: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6A6A6"/>
                      </a:solidFill>
                      <a:prstDash val="soli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15361920" y="8458200"/>
            <a:ext cx="7863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Per-field accuracy 100 % and verdict agreement 100 % on 6 generated label images.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0" i="1">
                <a:solidFill>
                  <a:srgbClr val="555555"/>
                </a:solidFill>
                <a:latin typeface="Times New Roman"/>
              </a:rPr>
              <a:t>These are synthetic labels; a test set of real phone photos of Indian packs is the next step.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Findings from Work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8996640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Rounded Rectangle 107"/>
          <p:cNvSpPr/>
          <p:nvPr/>
        </p:nvSpPr>
        <p:spPr>
          <a:xfrm>
            <a:off x="1188720" y="2240280"/>
            <a:ext cx="10789920" cy="265176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1508760" y="3154680"/>
            <a:ext cx="822960" cy="822960"/>
          </a:xfrm>
          <a:prstGeom prst="ellipse">
            <a:avLst/>
          </a:prstGeom>
          <a:solidFill>
            <a:srgbClr val="C42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651760" y="2423160"/>
            <a:ext cx="9052560" cy="2286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400" b="1" i="0">
                <a:solidFill>
                  <a:srgbClr val="041B31"/>
                </a:solidFill>
                <a:latin typeface="Times New Roman"/>
              </a:rPr>
              <a:t>Honest split, strong result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100" b="0" i="0">
                <a:solidFill>
                  <a:srgbClr val="1E1E1E"/>
                </a:solidFill>
                <a:latin typeface="Times New Roman"/>
              </a:rPr>
              <a:t>Splitting by source photo removes leaked copies, and the model still reaches 97.2 % test accuracy on 12 classes.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2435840" y="2240280"/>
            <a:ext cx="10789920" cy="2651760"/>
          </a:xfrm>
          <a:prstGeom prst="roundRect">
            <a:avLst>
              <a:gd name="adj" fmla="val 8000"/>
            </a:avLst>
          </a:prstGeom>
          <a:solidFill>
            <a:srgbClr val="E2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12755880" y="3154680"/>
            <a:ext cx="822960" cy="822960"/>
          </a:xfrm>
          <a:prstGeom prst="ellipse">
            <a:avLst/>
          </a:prstGeom>
          <a:solidFill>
            <a:srgbClr val="F9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898880" y="2423160"/>
            <a:ext cx="9052560" cy="2286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400" b="1" i="0">
                <a:solidFill>
                  <a:srgbClr val="041B31"/>
                </a:solidFill>
                <a:latin typeface="Times New Roman"/>
              </a:rPr>
              <a:t>Fine-tuning matters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100" b="0" i="0">
                <a:solidFill>
                  <a:srgbClr val="1E1E1E"/>
                </a:solidFill>
                <a:latin typeface="Times New Roman"/>
              </a:rPr>
              <a:t>Unfreezing the backbone lifts validation macro-F1 from 0.951 to 0.973.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188720" y="5212080"/>
            <a:ext cx="10789920" cy="2651760"/>
          </a:xfrm>
          <a:prstGeom prst="roundRect">
            <a:avLst>
              <a:gd name="adj" fmla="val 8000"/>
            </a:avLst>
          </a:prstGeom>
          <a:solidFill>
            <a:srgbClr val="E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1508760" y="6126480"/>
            <a:ext cx="822960" cy="822960"/>
          </a:xfrm>
          <a:prstGeom prst="ellipse">
            <a:avLst/>
          </a:prstGeom>
          <a:solidFill>
            <a:srgbClr val="92A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51760" y="5394960"/>
            <a:ext cx="9052560" cy="2286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400" b="1" i="0">
                <a:solidFill>
                  <a:srgbClr val="041B31"/>
                </a:solidFill>
                <a:latin typeface="Times New Roman"/>
              </a:rPr>
              <a:t>A threshold makes it safe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100" b="0" i="0">
                <a:solidFill>
                  <a:srgbClr val="1E1E1E"/>
                </a:solidFill>
                <a:latin typeface="Times New Roman"/>
              </a:rPr>
              <a:t>At 0.85 no stale item is marked SAFE; decided cases are 99.35 % correct, at the cost of 10 % CAUTION answers.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2435840" y="5212080"/>
            <a:ext cx="10789920" cy="2651760"/>
          </a:xfrm>
          <a:prstGeom prst="roundRect">
            <a:avLst>
              <a:gd name="adj" fmla="val 8000"/>
            </a:avLst>
          </a:prstGeom>
          <a:solidFill>
            <a:srgbClr val="FE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12755880" y="6126480"/>
            <a:ext cx="822960" cy="822960"/>
          </a:xfrm>
          <a:prstGeom prst="ellipse">
            <a:avLst/>
          </a:prstGeom>
          <a:solidFill>
            <a:srgbClr val="38B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898880" y="5394960"/>
            <a:ext cx="9052560" cy="2286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400" b="1" i="0">
                <a:solidFill>
                  <a:srgbClr val="041B31"/>
                </a:solidFill>
                <a:latin typeface="Times New Roman"/>
              </a:rPr>
              <a:t>Errors are visible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100" b="0" i="0">
                <a:solidFill>
                  <a:srgbClr val="1E1E1E"/>
                </a:solidFill>
                <a:latin typeface="Times New Roman"/>
              </a:rPr>
              <a:t>Tomato and capsicum are the hardest classes; the threshold turns their uncertain cases into CAUTION.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188720" y="8183880"/>
            <a:ext cx="22037040" cy="2651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1508760" y="9098280"/>
            <a:ext cx="822960" cy="822960"/>
          </a:xfrm>
          <a:prstGeom prst="ellipse">
            <a:avLst/>
          </a:prstGeom>
          <a:solidFill>
            <a:srgbClr val="167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651760" y="8366760"/>
            <a:ext cx="20299680" cy="2286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400" b="1" i="0">
                <a:solidFill>
                  <a:srgbClr val="041B31"/>
                </a:solidFill>
                <a:latin typeface="Times New Roman"/>
              </a:rPr>
              <a:t>Refusing is a feature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100" b="0" i="0">
                <a:solidFill>
                  <a:srgbClr val="1E1E1E"/>
                </a:solidFill>
                <a:latin typeface="Times New Roman"/>
              </a:rPr>
              <a:t>Guardrails let the system say it cannot check a photo instead of guessing, and the multi-variant OCR read every field of the test labels.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 and Future Scope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9890541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Rounded Rectangle 107"/>
          <p:cNvSpPr/>
          <p:nvPr/>
        </p:nvSpPr>
        <p:spPr>
          <a:xfrm>
            <a:off x="1188720" y="2240280"/>
            <a:ext cx="10744200" cy="8778240"/>
          </a:xfrm>
          <a:prstGeom prst="roundRect">
            <a:avLst>
              <a:gd name="adj" fmla="val 8000"/>
            </a:avLst>
          </a:prstGeom>
          <a:solidFill>
            <a:srgbClr val="E3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1645920" y="2560320"/>
            <a:ext cx="98298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000" b="1" i="0">
                <a:solidFill>
                  <a:srgbClr val="38B28A"/>
                </a:solidFill>
                <a:latin typeface="Times New Roman"/>
              </a:rPr>
              <a:t>Conclusions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45920" y="3611880"/>
            <a:ext cx="9829800" cy="8412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502920" indent="-502920">
              <a:lnSpc>
                <a:spcPct val="100000"/>
              </a:lnSpc>
              <a:spcAft>
                <a:spcPts val="3000"/>
              </a:spcAft>
              <a:buClr>
                <a:srgbClr val="38B28A"/>
              </a:buClr>
              <a:buFont typeface="Wingdings" pitchFamily="2" charset="2"/>
              <a:buChar char="§"/>
            </a:pPr>
            <a:r>
              <a:rPr sz="3300" b="0" i="0">
                <a:solidFill>
                  <a:srgbClr val="1E1E1E"/>
                </a:solidFill>
                <a:latin typeface="Times New Roman"/>
              </a:rPr>
              <a:t>FoodGuard AI checks raw produce and packaged foods from 1–3 photos and gives one explained verdict.</a:t>
            </a:r>
          </a:p>
          <a:p>
            <a:pPr algn="l" marL="502920" indent="-502920">
              <a:lnSpc>
                <a:spcPct val="100000"/>
              </a:lnSpc>
              <a:spcAft>
                <a:spcPts val="3000"/>
              </a:spcAft>
              <a:buClr>
                <a:srgbClr val="38B28A"/>
              </a:buClr>
              <a:buFont typeface="Wingdings" pitchFamily="2" charset="2"/>
              <a:buChar char="§"/>
            </a:pPr>
            <a:r>
              <a:rPr sz="3300" b="0" i="0">
                <a:solidFill>
                  <a:srgbClr val="1E1E1E"/>
                </a:solidFill>
                <a:latin typeface="Times New Roman"/>
              </a:rPr>
              <a:t>The spoilage model reaches 97.2 % test accuracy with no stale item marked SAFE at the chosen threshold.</a:t>
            </a:r>
          </a:p>
          <a:p>
            <a:pPr algn="l" marL="502920" indent="-502920">
              <a:lnSpc>
                <a:spcPct val="100000"/>
              </a:lnSpc>
              <a:spcAft>
                <a:spcPts val="3000"/>
              </a:spcAft>
              <a:buClr>
                <a:srgbClr val="38B28A"/>
              </a:buClr>
              <a:buFont typeface="Wingdings" pitchFamily="2" charset="2"/>
              <a:buChar char="§"/>
            </a:pPr>
            <a:r>
              <a:rPr sz="3300" b="0" i="0">
                <a:solidFill>
                  <a:srgbClr val="1E1E1E"/>
                </a:solidFill>
                <a:latin typeface="Times New Roman"/>
              </a:rPr>
              <a:t>Label reading, FSSAI rules, guardrails and identity checks work end to end in a Flask web app.</a:t>
            </a:r>
          </a:p>
          <a:p>
            <a:pPr algn="l" marL="502920" indent="-502920">
              <a:lnSpc>
                <a:spcPct val="100000"/>
              </a:lnSpc>
              <a:spcAft>
                <a:spcPts val="3000"/>
              </a:spcAft>
              <a:buClr>
                <a:srgbClr val="38B28A"/>
              </a:buClr>
              <a:buFont typeface="Wingdings" pitchFamily="2" charset="2"/>
              <a:buChar char="§"/>
            </a:pPr>
            <a:r>
              <a:rPr sz="3300" b="0" i="0">
                <a:solidFill>
                  <a:srgbClr val="1E1E1E"/>
                </a:solidFill>
                <a:latin typeface="Times New Roman"/>
              </a:rPr>
              <a:t>Every decision comes with evidence: heat map, OCR boxes, checks and a health score.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2481560" y="2240280"/>
            <a:ext cx="10744200" cy="8778240"/>
          </a:xfrm>
          <a:prstGeom prst="roundRect">
            <a:avLst>
              <a:gd name="adj" fmla="val 8000"/>
            </a:avLst>
          </a:prstGeom>
          <a:solidFill>
            <a:srgbClr val="E2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12938760" y="2560320"/>
            <a:ext cx="98298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000" b="1" i="0">
                <a:solidFill>
                  <a:srgbClr val="16749F"/>
                </a:solidFill>
                <a:latin typeface="Times New Roman"/>
              </a:rPr>
              <a:t>Future scope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938760" y="3611880"/>
            <a:ext cx="9829800" cy="8412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 marL="502920" indent="-502920">
              <a:lnSpc>
                <a:spcPct val="100000"/>
              </a:lnSpc>
              <a:spcAft>
                <a:spcPts val="3000"/>
              </a:spcAft>
              <a:buClr>
                <a:srgbClr val="16749F"/>
              </a:buClr>
              <a:buFont typeface="Wingdings" pitchFamily="2" charset="2"/>
              <a:buChar char="§"/>
            </a:pPr>
            <a:r>
              <a:rPr sz="3300" b="0" i="0">
                <a:solidFill>
                  <a:srgbClr val="1E1E1E"/>
                </a:solidFill>
                <a:latin typeface="Times New Roman"/>
              </a:rPr>
              <a:t>Build a test set of real phone photos of Indian packs and produce.</a:t>
            </a:r>
          </a:p>
          <a:p>
            <a:pPr algn="l" marL="502920" indent="-502920">
              <a:lnSpc>
                <a:spcPct val="100000"/>
              </a:lnSpc>
              <a:spcAft>
                <a:spcPts val="3000"/>
              </a:spcAft>
              <a:buClr>
                <a:srgbClr val="16749F"/>
              </a:buClr>
              <a:buFont typeface="Wingdings" pitchFamily="2" charset="2"/>
              <a:buChar char="§"/>
            </a:pPr>
            <a:r>
              <a:rPr sz="3300" b="0" i="0">
                <a:solidFill>
                  <a:srgbClr val="1E1E1E"/>
                </a:solidFill>
                <a:latin typeface="Times New Roman"/>
              </a:rPr>
              <a:t>Verify the limits against the final FSSAI front-of-pack notification.</a:t>
            </a:r>
          </a:p>
          <a:p>
            <a:pPr algn="l" marL="502920" indent="-502920">
              <a:lnSpc>
                <a:spcPct val="100000"/>
              </a:lnSpc>
              <a:spcAft>
                <a:spcPts val="3000"/>
              </a:spcAft>
              <a:buClr>
                <a:srgbClr val="16749F"/>
              </a:buClr>
              <a:buFont typeface="Wingdings" pitchFamily="2" charset="2"/>
              <a:buChar char="§"/>
            </a:pPr>
            <a:r>
              <a:rPr sz="3300" b="0" i="0">
                <a:solidFill>
                  <a:srgbClr val="1E1E1E"/>
                </a:solidFill>
                <a:latin typeface="Times New Roman"/>
              </a:rPr>
              <a:t>Add more produce types and local varieties; detect mould directly.</a:t>
            </a:r>
          </a:p>
          <a:p>
            <a:pPr algn="l" marL="502920" indent="-502920">
              <a:lnSpc>
                <a:spcPct val="100000"/>
              </a:lnSpc>
              <a:spcAft>
                <a:spcPts val="3000"/>
              </a:spcAft>
              <a:buClr>
                <a:srgbClr val="16749F"/>
              </a:buClr>
              <a:buFont typeface="Wingdings" pitchFamily="2" charset="2"/>
              <a:buChar char="§"/>
            </a:pPr>
            <a:r>
              <a:rPr sz="3300" b="0" i="0">
                <a:solidFill>
                  <a:srgbClr val="1E1E1E"/>
                </a:solidFill>
                <a:latin typeface="Times New Roman"/>
              </a:rPr>
              <a:t>Read Hindi and regional-language labels; detect allergens and trans fat.</a:t>
            </a:r>
          </a:p>
          <a:p>
            <a:pPr algn="l" marL="502920" indent="-502920">
              <a:lnSpc>
                <a:spcPct val="100000"/>
              </a:lnSpc>
              <a:spcAft>
                <a:spcPts val="3000"/>
              </a:spcAft>
              <a:buClr>
                <a:srgbClr val="16749F"/>
              </a:buClr>
              <a:buFont typeface="Wingdings" pitchFamily="2" charset="2"/>
              <a:buChar char="§"/>
            </a:pPr>
            <a:r>
              <a:rPr sz="3300" b="0" i="0">
                <a:solidFill>
                  <a:srgbClr val="1E1E1E"/>
                </a:solidFill>
                <a:latin typeface="Times New Roman"/>
              </a:rPr>
              <a:t>Package as a mobile app with on-device models (e.g. ONNX).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3551971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TextBox 107"/>
          <p:cNvSpPr txBox="1"/>
          <p:nvPr/>
        </p:nvSpPr>
        <p:spPr>
          <a:xfrm>
            <a:off x="1188720" y="2240280"/>
            <a:ext cx="22037040" cy="10149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[1]  A. Krizhevsky, I. Sutskever and G. E. Hinton, "ImageNet Classification with Deep Convolutional Neural Networks," in Advances in Neural Information Processing Systems (NeurIPS), 2012.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[2]  K. Simonyan and A. Zisserman, "Very Deep Convolutional Networks for Large-Scale Image Recognition," in Proc. ICLR, 2015.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[3]  K. He, X. Zhang, S. Ren and J. Sun, "Deep Residual Learning for Image Recognition," in Proc. IEEE CVPR, 2016, pp. 770–778.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[4]  M. Sandler, A. Howard, M. Zhu, A. Zhmoginov and L.-C. Chen, "MobileNetV2: Inverted Residuals and Linear Bottlenecks," in Proc. IEEE/CVF CVPR, 2018, pp. 4510–4520.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[5]  J. Yosinski, J. Clune, Y. Bengio and H. Lipson, "How Transferable Are Features in Deep Neural Networks?" in Advances in Neural Information Processing Systems (NeurIPS), 2014.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[6]  M. Tan and Q. V. Le, "EfficientNet: Rethinking Model Scaling for Convolutional Neural Networks," in Proc. ICML, 2019.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[7]  A. Kamilaris and F. X. Prenafeta-Boldú, "Deep Learning in Agriculture: A Survey," Computers and Electronics in Agriculture, vol. 147, pp. 70–90, 2018.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[8]  A. Bhargava and A. Bansal, "Fruits and Vegetables Quality Evaluation Using Computer Vision: A Review," Journal of King Saud University – Computer and Information Sciences, vol. 33, no. 3, pp. 243–257, 2021.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[9]  H. Mureșan and M. Oltean, "Fruit Recognition from Images Using Deep Learning," Acta Universitatis Sapientiae, Informatica, vol. 10, no. 1, pp. 26–42, 2018.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[10]  M. S. Hossain, M. Al-Hammadi and G. Muhammad, "Automatic Fruit Classification Using Deep Learning for Industrial Applications," IEEE Transactions on Industrial Informatics, vol. 15, no. 2, pp. 1027–1034, 2019.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[11]  S. Kaufman, S. Rosset, C. Perlich and O. Stitelman, "Leakage in Data Mining: Formulation, Detection, and Avoidance," ACM Transactions on Knowledge Discovery from Data, vol. 6, no. 4, 2012.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[12]  R. R. Selvaraju, M. Cogswell, A. Das, R. Vedantam, D. Parikh and D. Batra, "Grad-CAM: Visual Explanations from Deep Networks via Gradient-Based Localization," in Proc. IEEE ICCV, 2017, pp. 618–626.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[13]  R. Smith, "An Overview of the Tesseract OCR Engine," in Proc. Int. Conf. Document Analysis and Recognition (ICDAR), 2007.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[14]  X. Zhou et al., "EAST: An Efficient and Accurate Scene Text Detector," in Proc. IEEE CVPR, 2017.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Google Shape;100;p2"/>
          <p:cNvSpPr txBox="1"/>
          <p:nvPr/>
        </p:nvSpPr>
        <p:spPr>
          <a:xfrm>
            <a:off x="1615186" y="595215"/>
            <a:ext cx="2229221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(Continued)</a:t>
            </a:r>
            <a:endParaRPr sz="6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730735" y="1783761"/>
            <a:ext cx="7682011" cy="45719"/>
            <a:chOff x="1775295" y="2028842"/>
            <a:chExt cx="3631535" cy="45719"/>
          </a:xfrm>
        </p:grpSpPr>
        <p:sp>
          <p:nvSpPr>
            <p:cNvPr id="102" name="Google Shape;102;p2"/>
            <p:cNvSpPr/>
            <p:nvPr/>
          </p:nvSpPr>
          <p:spPr>
            <a:xfrm rot="10800000" flipH="1">
              <a:off x="1775295" y="2028842"/>
              <a:ext cx="540353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 rot="10800000" flipH="1">
              <a:off x="2390858" y="2028842"/>
              <a:ext cx="54035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 rot="10800000" flipH="1">
              <a:off x="3025596" y="2028842"/>
              <a:ext cx="540353" cy="457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rot="10800000" flipH="1">
              <a:off x="3641289" y="2028842"/>
              <a:ext cx="540353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 flipH="1">
              <a:off x="4256852" y="2028842"/>
              <a:ext cx="540353" cy="457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 rot="10800000" flipH="1">
              <a:off x="4866477" y="2028842"/>
              <a:ext cx="540353" cy="4571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43775" tIns="121875" rIns="243775" bIns="1218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pic>
        <p:nvPicPr>
          <p:cNvPr id="12" name="Google Shape;94;p1" descr="https://lh7-rt.googleusercontent.com/docsz/AD_4nXcZ7aox_efht4R1yFMGhQ889FP5jfIhkbui0TAbQhri5GBZ9tekGVS15Mnz6fGJ3Qlqssuc1pbQJ0NjHHjBv6gmnnKrQ6GCuDRkg-7bWPgIQtTdObTCDRNd89d_BQO4fx1b-D2gjOx8YNocIJZ4as32g1B1KYNi063q14gW4tbabRouycWQpNo?key=YIwZs39tgoO6s7QPJEluzEO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56" y="203730"/>
            <a:ext cx="1650279" cy="7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TextBox 107"/>
          <p:cNvSpPr txBox="1"/>
          <p:nvPr/>
        </p:nvSpPr>
        <p:spPr>
          <a:xfrm>
            <a:off x="1188720" y="2240280"/>
            <a:ext cx="22037040" cy="10149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[15]  Y. Baek, B. Lee, D. Han, S. Yun and H. Lee, "Character Region Awareness for Text Detection," in Proc. IEEE/CVF CVPR, 2019.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[16]  B. Shi, X. Bai and C. Yao, "An End-to-End Trainable Neural Network for Image-Based Sequence Recognition and Its Application to Scene Text Recognition," IEEE Transactions on Pattern Analysis and Machine Intelligence, vol. 39, no. 11, pp. 2298–2304, 2017.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[17]  D. Hendrycks and K. Gimpel, "A Baseline for Detecting Misclassified and Out-of-Distribution Examples in Neural Networks," in Proc. ICLR, 2017.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[18]  S. Liang, Y. Li and R. Srikant, "Enhancing the Reliability of Out-of-Distribution Image Detection in Neural Networks," in Proc. ICLR, 2018.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[19]  A. Radford et al., "Learning Transferable Visual Models From Natural Language Supervision," in Proc. ICML, 2021.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[20]  L. S. Taillie, M. Reyes, M. A. Colchero, B. Popkin and C. Corvalán, "An Evaluation of Chile's Law of Food Labeling and Advertising on Sugar-Sweetened Beverage Purchases from 2015 to 2017: A Before-and-After Study," PLOS Medicine, vol. 17, no. 2, e1003015, 2020.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[21]  R. Potdar, "Fresh and Stale Images of Fruits and Vegetables," Kaggle dataset. [Online]. Available: https://www.kaggle.com/datasets/raghavrpotdar/fresh-and-stale-images-of-fruits-and-vegetables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[22]  JaidedAI, "EasyOCR," GitHub repository. [Online]. Available: https://github.com/JaidedAI/EasyOCR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[23]  Food Safety and Standards Authority of India, "Food Safety and Standards (Labelling and Display) Regulations, 2020." [Online]. Available: https://www.fssai.gov.in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[24]  Food Safety and Standards Authority of India, "Draft Food Safety and Standards (Labelling and Display) Amendment Regulations on front-of-pack nutrition labelling," 2022. [Online]. Available: https://www.fssai.gov.in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[25]  Open Food Facts, "Open Food Facts: The Free Food Products Database." [Online]. Available: https://world.openfoodfacts.org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[26]  World Health Organization, "Guideline: Sugars Intake for Adults and Children," Geneva, 2015.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[27]  I. Loshchilov and F. Hutter, "Decoupled Weight Decay Regularization," in Proc. ICLR, 2019.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500" b="0" i="0">
                <a:solidFill>
                  <a:srgbClr val="1E1E1E"/>
                </a:solidFill>
                <a:latin typeface="Times New Roman"/>
              </a:rPr>
              <a:t>[28]  L. N. Smith and N. Topin, "Super-Convergence: Very Fast Training of Neural Networks Using Large Learning Rates," in Proc. SPIE Artificial Intelligence and Machine Learning for Multi-Domain Operations Applications,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Entrepreneur - Coloured - Light">
      <a:dk1>
        <a:srgbClr val="7E7E7E"/>
      </a:dk1>
      <a:lt1>
        <a:srgbClr val="FFFFFF"/>
      </a:lt1>
      <a:dk2>
        <a:srgbClr val="041B31"/>
      </a:dk2>
      <a:lt2>
        <a:srgbClr val="FFFFFF"/>
      </a:lt2>
      <a:accent1>
        <a:srgbClr val="C42A13"/>
      </a:accent1>
      <a:accent2>
        <a:srgbClr val="F9711C"/>
      </a:accent2>
      <a:accent3>
        <a:srgbClr val="92AF27"/>
      </a:accent3>
      <a:accent4>
        <a:srgbClr val="38B28A"/>
      </a:accent4>
      <a:accent5>
        <a:srgbClr val="16749F"/>
      </a:accent5>
      <a:accent6>
        <a:srgbClr val="041B31"/>
      </a:accent6>
      <a:hlink>
        <a:srgbClr val="F33B48"/>
      </a:hlink>
      <a:folHlink>
        <a:srgbClr val="FFC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5400</TotalTime>
  <Words>817</Words>
  <Application>Microsoft Office PowerPoint</Application>
  <PresentationFormat>Custom</PresentationFormat>
  <Paragraphs>195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Times New Roman</vt:lpstr>
      <vt:lpstr>Courier New</vt:lpstr>
      <vt:lpstr>Wingdings</vt:lpstr>
      <vt:lpstr>Raleway Light</vt:lpstr>
      <vt:lpstr>Arial</vt:lpstr>
      <vt:lpstr>Raleway</vt:lpstr>
      <vt:lpstr>Noto Sans Symbols</vt:lpstr>
      <vt:lpstr>Calibri</vt:lpstr>
      <vt:lpstr>Lato Light</vt:lpstr>
      <vt:lpstr>Lato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Manuel Lopez</dc:creator>
  <cp:lastModifiedBy>DPU SST</cp:lastModifiedBy>
  <cp:revision>22</cp:revision>
  <dcterms:created xsi:type="dcterms:W3CDTF">2014-11-12T21:47:38Z</dcterms:created>
  <dcterms:modified xsi:type="dcterms:W3CDTF">2026-09-15T09:33:07Z</dcterms:modified>
</cp:coreProperties>
</file>